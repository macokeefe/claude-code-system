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24" r:id="rId21"/>
    <p:sldId id="312" r:id="rId6"/>
    <p:sldId id="325" r:id="rId22"/>
    <p:sldId id="313" r:id="rId7"/>
    <p:sldId id="319" r:id="rId8"/>
    <p:sldId id="321" r:id="rId13"/>
    <p:sldId id="322" r:id="rId14"/>
    <p:sldId id="323" r:id="rId15"/>
    <p:sldId id="326" r:id="rId23"/>
    <p:sldId id="327" r:id="rId24"/>
    <p:sldId id="328" r:id="rId25"/>
    <p:sldId id="329" r:id="rId26"/>
    <p:sldId id="330" r:id="rId27"/>
    <p:sldId id="3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370FB-FD35-519B-7AE8-7E236CBF5376}" v="81" dt="2026-06-18T20:33:5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4016-FA22-CE01-304D-20512361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BCAAE-BB82-2C0F-CEE9-B7B100A8A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0C4B-5C56-E230-E8A7-62486156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E40D-2C1B-63E7-C711-E7F27B38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557C-ECD5-70A9-8826-AA616131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79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E8D6-6C57-5E89-D11A-856FC81E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A28A-8A97-B097-FC80-D94EFCDC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87E99-B1ED-FBED-7DB9-5AECD140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A557-8CAE-8991-D049-C5A8107E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8FE1-7D73-1D5D-C37F-5FA3ACFF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127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F98E-86E8-B4CA-C67A-359898FE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846D-6E2D-9D67-F14C-87243D40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273-861A-E991-DA43-00636DA5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DDB5-189D-A384-CEA4-3BD2BA82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518A-B614-37FC-863E-A4843941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419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93D3-A21F-3795-4566-5D351DE4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A3D-A546-27E1-8030-5E5511CB4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F968B-DFC4-9A85-900E-43FB3F9C6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DB4C4-FFB1-07A9-CC89-B02CB5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7C89-85E6-6316-0BDC-4542B390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B84AB-19EB-70CE-A097-DAECFE1C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288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E112-ADBA-3517-FF11-868BC8E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7EAD4-974A-76BC-3163-52934085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D12D6-2A4E-2FD0-FE8E-9B7DEF31B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86737-7439-0832-B8ED-E20F470F6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78ECE-7188-355B-35B3-7321354A5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8C464-8094-ECAE-B5A4-29E14DCD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F2A86-75F6-0AB6-9F38-10FC7714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4D414-08FD-7A10-5ECA-49D36916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835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5675-F986-CBE3-604B-5772B38F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E4B1F-5FD6-E9E1-D355-03B0C70B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E80BB-035C-49B4-670B-7F35BBD7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44A98-853F-3FC3-47AB-34ADFDE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488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F3853-2C7E-32B2-25F7-26F0BDBC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63404-5708-0A7C-B9FD-6E85D429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9AC7D-1B1D-4979-1D96-B699949E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569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E7D2-F4EF-147F-BF14-01F89B93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0032-67E7-C3C0-2F14-10986028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597C6-C86C-2893-AC12-844B7E52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1BFA-7825-8949-5978-F1F68F40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8390-9B2D-A30F-F51F-2D3F471F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4EBED-9A4F-9CF4-A4C5-2F3C6FE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7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C2F-B0FD-9959-27A1-CAE27EC6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7D0B4-4F5E-CD30-FCD7-8214E9104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101F-51CD-DCE5-690D-8BF19445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6A0D-E8AC-0D78-A202-723D55CF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B6365-7D40-6630-6E49-57D1C1D2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5A28-922C-3C00-C508-291CAF2D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0798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E358-9C7B-26CE-682E-3BA95C7A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503E2-3892-EDDE-7692-920532DE2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56F8-345C-F069-CFEF-B1FA2F28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8159-4FC3-745A-F5B5-B30036FE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ACE29-4AA2-1D1B-F876-B5D4F6EA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65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AD697-4A2D-6986-9B85-3538281E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38171-43D9-2FA8-2567-8F439B8E8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D6014-B110-DDC7-38C3-E9A373E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DF84-D769-00FC-F6C6-1B1476E7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71-131F-DDDE-958C-B6758209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450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sp>
        <p:nvSpPr>
          <p:cNvPr id="405" name="Rectangle"/>
          <p:cNvSpPr/>
          <p:nvPr userDrawn="1"/>
        </p:nvSpPr>
        <p:spPr>
          <a:xfrm>
            <a:off x="327660" y="290830"/>
            <a:ext cx="11536680" cy="62763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07716">
              <a:lnSpc>
                <a:spcPct val="120000"/>
              </a:lnSpc>
              <a:spcBef>
                <a:spcPts val="0"/>
              </a:spcBef>
              <a:defRPr sz="3000" spc="-59">
                <a:solidFill>
                  <a:schemeClr val="accent5">
                    <a:hueOff val="-246905"/>
                    <a:satOff val="-77181"/>
                    <a:lumOff val="20457"/>
                  </a:schemeClr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500"/>
          </a:p>
        </p:txBody>
      </p:sp>
      <p:sp>
        <p:nvSpPr>
          <p:cNvPr id="407" name="Content Title"/>
          <p:cNvSpPr txBox="1">
            <a:spLocks noGrp="1"/>
          </p:cNvSpPr>
          <p:nvPr>
            <p:ph type="title" hasCustomPrompt="1"/>
          </p:nvPr>
        </p:nvSpPr>
        <p:spPr>
          <a:xfrm>
            <a:off x="1028700" y="457265"/>
            <a:ext cx="10134600" cy="90970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737476"/>
                </a:solidFill>
                <a:latin typeface="+mj-lt"/>
              </a:defRPr>
            </a:lvl1pPr>
          </a:lstStyle>
          <a:p>
            <a:r>
              <a:rPr dirty="0"/>
              <a:t>Content Title</a:t>
            </a:r>
          </a:p>
        </p:txBody>
      </p:sp>
      <p:sp>
        <p:nvSpPr>
          <p:cNvPr id="4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30CDAFA4-4CF5-7267-C176-CA9BC1FBF07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28019" y="1844041"/>
            <a:ext cx="10135963" cy="3956502"/>
          </a:xfrm>
          <a:prstGeom prst="rect">
            <a:avLst/>
          </a:prstGeom>
        </p:spPr>
        <p:txBody>
          <a:bodyPr anchor="t"/>
          <a:lstStyle>
            <a:lvl1pPr marL="22225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1pPr>
            <a:lvl2pPr marL="44450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18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2pPr>
            <a:lvl3pPr marL="815975" indent="-371475" algn="l" defTabSz="1219169">
              <a:lnSpc>
                <a:spcPct val="100000"/>
              </a:lnSpc>
              <a:spcBef>
                <a:spcPts val="2100"/>
              </a:spcBef>
              <a:buSzPct val="100000"/>
              <a:buFont typeface="Arial" panose="020B0604020202020204" pitchFamily="34" charset="0"/>
              <a:buChar char="•"/>
              <a:defRPr sz="16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3pPr>
            <a:lvl4pPr marL="88900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14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4pPr>
            <a:lvl5pPr marL="111125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5pPr>
          </a:lstStyle>
          <a:p>
            <a:pPr lvl="0"/>
            <a:r>
              <a:rPr lang="en-US" dirty="0"/>
              <a:t>Main 1</a:t>
            </a:r>
          </a:p>
          <a:p>
            <a:pPr lvl="0"/>
            <a:r>
              <a:rPr lang="en-US" dirty="0"/>
              <a:t>Main 2</a:t>
            </a:r>
          </a:p>
          <a:p>
            <a:pPr lvl="1"/>
            <a:r>
              <a:rPr lang="en-US" dirty="0"/>
              <a:t>Sub 1 </a:t>
            </a:r>
          </a:p>
          <a:p>
            <a:pPr lvl="1"/>
            <a:r>
              <a:rPr lang="en-US" dirty="0"/>
              <a:t>Sub 2</a:t>
            </a:r>
          </a:p>
          <a:p>
            <a:pPr lvl="2"/>
            <a:r>
              <a:rPr lang="en-US" dirty="0"/>
              <a:t>Sub 2a</a:t>
            </a:r>
          </a:p>
          <a:p>
            <a:pPr lvl="2"/>
            <a:r>
              <a:rPr lang="en-US" dirty="0"/>
              <a:t>Sub 2b</a:t>
            </a:r>
          </a:p>
          <a:p>
            <a:pPr lvl="3"/>
            <a:r>
              <a:rPr lang="en-US" dirty="0"/>
              <a:t>Sub 2bi</a:t>
            </a:r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4" name="Picture 3" descr="A picture containing silhouette, plant&#10;&#10;Description automatically generated">
            <a:extLst>
              <a:ext uri="{FF2B5EF4-FFF2-40B4-BE49-F238E27FC236}">
                <a16:creationId xmlns:a16="http://schemas.microsoft.com/office/drawing/2014/main" id="{6A47F707-7F7A-44F1-E09F-E04DC1C563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3502" y="6104072"/>
            <a:ext cx="1649987" cy="4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68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pic>
        <p:nvPicPr>
          <p:cNvPr id="85" name="Image" descr="Image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0648" y="3106005"/>
            <a:ext cx="3949909" cy="64599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4462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8BBD4-2A27-8653-4250-BB052B39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645A3-F900-023C-0932-F612D484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EE3A-86E7-9D84-B7DB-F8FE93D63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F44BB-14DF-43E9-8FF7-086183F60DE1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A4C2-6A03-78A6-9DF6-02F8AE102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04D0-6DF8-65BA-0D8D-76201F53B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8C759-B4D3-1D90-C69F-F9AF52F8E206}"/>
              </a:ext>
            </a:extLst>
          </p:cNvPr>
          <p:cNvSpPr txBox="1"/>
          <p:nvPr/>
        </p:nvSpPr>
        <p:spPr>
          <a:xfrm>
            <a:off x="742135" y="1232483"/>
            <a:ext cx="4866185" cy="29310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t>Meritage 3-Seater Sofa</a:t>
            </a:r>
          </a:p>
          <a:p>
            <a:r>
              <a:t>Engineering Improvement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4F3D6-6317-85ED-5F90-EDE4B30CCE7A}"/>
              </a:ext>
            </a:extLst>
          </p:cNvPr>
          <p:cNvSpPr txBox="1"/>
          <p:nvPr/>
        </p:nvSpPr>
        <p:spPr>
          <a:xfrm>
            <a:off x="951685" y="4135878"/>
            <a:ext cx="3163115" cy="754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Douglas O'Keefe</a:t>
            </a:r>
            <a:endParaRPr lang="en-US" sz="2000" b="1" dirty="0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06/18/2026</a:t>
            </a:r>
            <a:endParaRPr lang="en-US" sz="2000" b="1" dirty="0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613788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8A62-D0C7-6EBB-2F3B-10D17982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487745"/>
            <a:ext cx="5600700" cy="909701"/>
          </a:xfrm>
        </p:spPr>
        <p:txBody>
          <a:bodyPr/>
          <a:lstStyle/>
          <a:p>
            <a:r>
              <a:rPr lang="en-US" dirty="0"/>
              <a:t>Key Takeaways: </a:t>
            </a:r>
            <a:r>
              <a:rPr lang="en-US" dirty="0">
                <a:solidFill>
                  <a:schemeClr val="accent1"/>
                </a:solidFill>
              </a:rPr>
              <a:t>Meritage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73628-9B98-D01A-F206-8718B5EC1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Meritage 3-Seater Sofa assembly labor time: 254 min  (+ 18 min packing for shipping = 272 min total)</a:t>
            </a:r>
          </a:p>
          <a:p>
            <a:r>
              <a:rPr dirty="0"/>
              <a:t>Theoretical output based on cycle time (41.5 min), assuming</a:t>
            </a:r>
            <a:r>
              <a:rPr lang="en-US" dirty="0"/>
              <a:t> all parts are available.</a:t>
            </a:r>
            <a:endParaRPr dirty="0"/>
          </a:p>
          <a:p>
            <a:pPr lvl="1"/>
            <a:r>
              <a:rPr dirty="0"/>
              <a:t>~10 units per day (7 operators)</a:t>
            </a:r>
          </a:p>
          <a:p>
            <a:pPr lvl="1"/>
            <a:r>
              <a:rPr dirty="0"/>
              <a:t>Takt time required (demand of 10 units): 42 min</a:t>
            </a:r>
          </a:p>
        </p:txBody>
      </p:sp>
    </p:spTree>
    <p:extLst>
      <p:ext uri="{BB962C8B-B14F-4D97-AF65-F5344CB8AC3E}">
        <p14:creationId xmlns:p14="http://schemas.microsoft.com/office/powerpoint/2010/main" val="396744865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F6A0-47EF-52F0-F471-A3C9F254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215" y="803276"/>
            <a:ext cx="4933569" cy="909701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Improvements: </a:t>
            </a:r>
            <a:r>
              <a:rPr lang="en-US" dirty="0">
                <a:solidFill>
                  <a:schemeClr val="accent1"/>
                </a:solidFill>
              </a:rPr>
              <a:t>Meritage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9034-701E-75E5-9BB2-7BA8BB75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 different connector types part numbers. Currently, the 3 different types of Meritage connectors arrive the same way, and under 1 part #. </a:t>
            </a:r>
            <a:endParaRPr lang="en-US" b="1" dirty="0"/>
          </a:p>
          <a:p>
            <a:r>
              <a:rPr dirty="0"/>
              <a:t>Eliminate connector screw swaps &amp; reorientation</a:t>
            </a:r>
            <a:r>
              <a:rPr lang="en-US" dirty="0"/>
              <a:t>: </a:t>
            </a:r>
            <a:r>
              <a:rPr dirty="0"/>
              <a:t>recovers ~</a:t>
            </a:r>
            <a:r>
              <a:rPr lang="en-US" dirty="0"/>
              <a:t>1</a:t>
            </a:r>
            <a:r>
              <a:rPr dirty="0"/>
              <a:t>1:40 of labor per unit to redeploy elsewhere</a:t>
            </a:r>
            <a:endParaRPr lang="en-US" dirty="0"/>
          </a:p>
          <a:p>
            <a:r>
              <a:rPr dirty="0"/>
              <a:t>Pre-drill connector holes for screw entry</a:t>
            </a:r>
            <a:r>
              <a:rPr lang="en-US" dirty="0"/>
              <a:t> (for leg piece insertion): </a:t>
            </a:r>
            <a:r>
              <a:rPr dirty="0"/>
              <a:t>saves </a:t>
            </a:r>
            <a:r>
              <a:rPr lang="en-US" dirty="0"/>
              <a:t> at least 6</a:t>
            </a:r>
            <a:r>
              <a:rPr dirty="0"/>
              <a:t> min per frame assembly (seat-frame assembly is a top bottleneck)</a:t>
            </a:r>
            <a:r>
              <a:rPr lang="en-US" dirty="0"/>
              <a:t>. </a:t>
            </a:r>
            <a:endParaRPr dirty="0"/>
          </a:p>
          <a:p>
            <a:r>
              <a:rPr dirty="0"/>
              <a:t>Receive leg pieces pre-assembled from manufacturing</a:t>
            </a:r>
            <a:r>
              <a:rPr lang="en-US" dirty="0"/>
              <a:t>: There are two types of leg pieces. One of them being used 90% of the time. That one should be outsourced. The only issue is paint.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44268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First Step to Pre-Assembly: Fix the Connector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1371600"/>
            <a:ext cx="10149840" cy="114300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62626"/>
                </a:solidFill>
                <a:latin typeface="Calibri"/>
              </a:rPr>
              <a:t>The first step to getting connectors pre-assembled in Vietnam: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give each connector its own part number in the BOM.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Today all three connectors arrive from Vietnam as </a:t>
            </a:r>
            <a:r>
              <a:rPr sz="1400" b="1" i="0">
                <a:solidFill>
                  <a:srgbClr val="843C0C"/>
                </a:solidFill>
                <a:latin typeface="Calibri"/>
              </a:rPr>
              <a:t>one generic type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, then get swapped and reconfigured by hand on the line.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262626"/>
                </a:solidFill>
                <a:latin typeface="Calibri"/>
              </a:rPr>
              <a:t>The BOM lists </a:t>
            </a:r>
            <a:r>
              <a:rPr sz="1400" b="1" i="0">
                <a:solidFill>
                  <a:srgbClr val="843C0C"/>
                </a:solidFill>
                <a:latin typeface="Calibri"/>
              </a:rPr>
              <a:t>2 connector types — but there are really 3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2697480"/>
          <a:ext cx="85953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 number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Front of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Type 1 (same both sides)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1015301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Back – 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Left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1015302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Back – 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Right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1016592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4128" y="4160520"/>
            <a:ext cx="10149840" cy="1234440"/>
          </a:xfrm>
          <a:prstGeom prst="rect">
            <a:avLst/>
          </a:prstGeom>
          <a:solidFill>
            <a:srgbClr val="FBF3E0"/>
          </a:solidFill>
          <a:ln w="9525">
            <a:solidFill>
              <a:srgbClr val="E6C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" y="4160520"/>
            <a:ext cx="73152" cy="123444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4297680"/>
            <a:ext cx="9692640" cy="10058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864"/>
                </a:solidFill>
                <a:latin typeface="Calibri"/>
              </a:rPr>
              <a:t>The gap.  </a:t>
            </a:r>
            <a:r>
              <a:rPr sz="1350" b="0" i="0">
                <a:solidFill>
                  <a:srgbClr val="262626"/>
                </a:solidFill>
                <a:latin typeface="Calibri"/>
              </a:rPr>
              <a:t>Drawings already show all three correctly — 1015301 (×2) front, 1015302 + 1016592 back — but the BOM does not.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350" b="1" i="0">
                <a:solidFill>
                  <a:srgbClr val="1F3864"/>
                </a:solidFill>
                <a:latin typeface="Calibri"/>
              </a:rPr>
              <a:t>The fix.  </a:t>
            </a:r>
            <a:r>
              <a:rPr sz="1350" b="1" i="0">
                <a:solidFill>
                  <a:srgbClr val="23402C"/>
                </a:solidFill>
                <a:latin typeface="Calibri"/>
              </a:rPr>
              <a:t>Give each its own part number so it is ordered separately — then every connector arrives from Vietnam already assembled for its specific use (front / back-left / back-right), with no hand reconfiguring on the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5532120"/>
            <a:ext cx="10149840" cy="7315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1">
                <a:solidFill>
                  <a:srgbClr val="595959"/>
                </a:solidFill>
                <a:latin typeface="Calibri"/>
              </a:rPr>
              <a:t>Note: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the Marquesa also uses a specific connector that should be coming pre-assembled — different from the three types covered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F93A-4DD6-283B-C6F7-6C31DAB5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104" y="399354"/>
            <a:ext cx="8366760" cy="1856167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 for your time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9353B-FC39-822C-BD6F-162912C6F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7552" y="2580132"/>
            <a:ext cx="3022773" cy="71627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800" u="sng" dirty="0"/>
              <a:t>Any Questions?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3454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B226-9A89-9304-1A25-AEF1DA9A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9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Meritage Flat connectors (Classic type #1)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F1AAEE-0BC7-5C08-3BA8-A92ABB4F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98668" y="479191"/>
            <a:ext cx="4810728" cy="661268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EA6FA5-66E3-EEAD-E092-E4A55E303B4D}"/>
              </a:ext>
            </a:extLst>
          </p:cNvPr>
          <p:cNvSpPr txBox="1"/>
          <p:nvPr/>
        </p:nvSpPr>
        <p:spPr>
          <a:xfrm>
            <a:off x="7010400" y="169668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These drawings reflect the engineering teams perspective of the connectors.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In reality, Operator 1 on the floor removes the 40200 screw from every single connector that arrives from Vietnam and replaces it with 1012919 screw. </a:t>
            </a:r>
          </a:p>
        </p:txBody>
      </p:sp>
    </p:spTree>
    <p:extLst>
      <p:ext uri="{BB962C8B-B14F-4D97-AF65-F5344CB8AC3E}">
        <p14:creationId xmlns:p14="http://schemas.microsoft.com/office/powerpoint/2010/main" val="28730920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8CCF-0BEE-592C-0047-DCFE66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BBD6-317F-7571-308B-BDCBC58C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9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latin typeface="+mj-lt"/>
                <a:ea typeface="+mj-ea"/>
                <a:cs typeface="+mj-cs"/>
              </a:rPr>
              <a:t>Meritage Flat connectors </a:t>
            </a:r>
            <a:br>
              <a:rPr lang="en-US" sz="2400" kern="1200" dirty="0">
                <a:latin typeface="+mj-lt"/>
                <a:ea typeface="+mj-ea"/>
                <a:cs typeface="+mj-cs"/>
              </a:rPr>
            </a:br>
            <a:r>
              <a:rPr lang="en-US" sz="2400" kern="1200" dirty="0">
                <a:latin typeface="+mj-lt"/>
                <a:ea typeface="+mj-ea"/>
                <a:cs typeface="+mj-cs"/>
              </a:rPr>
              <a:t>(Type #2 which is split between left and right)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3A5F5-A5B4-5D94-E776-3E1A618C5595}"/>
              </a:ext>
            </a:extLst>
          </p:cNvPr>
          <p:cNvSpPr txBox="1"/>
          <p:nvPr/>
        </p:nvSpPr>
        <p:spPr>
          <a:xfrm>
            <a:off x="7010400" y="169668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This one comes with 1012934, and the operator currently removes that screw and replaces it with 402014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Half of these also need to have their orientation flipped which seems avoidable. Also, the left and right orientations should have their own part number.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077096-1A28-D4E8-DA0C-8A588AC04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63479" y="951945"/>
            <a:ext cx="5220090" cy="629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5663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F329-CECE-88A3-E0A7-22C0372A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F650-087F-95F3-C3F5-6D6CFAA09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94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Meritage Flat connectors (both types)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8597C-C929-BEAC-87FF-2149BBE2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98668" y="479191"/>
            <a:ext cx="4810728" cy="661268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098D85-14AF-E1C7-0B21-F29506FEFA7B}"/>
              </a:ext>
            </a:extLst>
          </p:cNvPr>
          <p:cNvSpPr txBox="1"/>
          <p:nvPr/>
        </p:nvSpPr>
        <p:spPr>
          <a:xfrm>
            <a:off x="7010400" y="169668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These drawings reflect the engineering teams current perspective of the connectors.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/>
              <a:t>Operators spend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584322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— Meritage 3-Seater (Engineering)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Current state: labor time, cycle time, theoretical output vs. takt</a:t>
            </a:r>
          </a:p>
          <a:p>
            <a:pPr/>
            <a:r>
              <a:t>Where the labor goes — the bottleneck steps</a:t>
            </a:r>
          </a:p>
          <a:p>
            <a:pPr/>
            <a:r>
              <a:t>Improvement plan (4 engineering fixes)</a:t>
            </a:r>
          </a:p>
          <a:p>
            <a:pPr/>
            <a:r>
              <a:t>Deep dive 1 — Connector BOM &amp; pre-assembly (3 real types)</a:t>
            </a:r>
          </a:p>
          <a:p>
            <a:pPr/>
            <a:r>
              <a:t>Deep dive 2 — Eliminate connector screw swaps &amp; reorientation</a:t>
            </a:r>
          </a:p>
          <a:p>
            <a:pPr/>
            <a:r>
              <a:t>Deep dive 3 — Pre-drill connector holes (seat-frame bottleneck)</a:t>
            </a:r>
          </a:p>
          <a:p>
            <a:pPr/>
            <a:r>
              <a:t>Deep dive 4 — Receive leg pieces pre-assembled</a:t>
            </a:r>
          </a:p>
          <a:p>
            <a:pPr/>
            <a:r>
              <a:t>Line balance to takt &amp; labor-savings roll-up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Labor Goes — Meritage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Total assembly labor: 254 min  ·  + 18 min packing = 272 min/unit</a:t>
            </a:r>
          </a:p>
          <a:p>
            <a:pPr/>
            <a:r>
              <a:t>The build is dominated by a few steps — that's where engineering effort pays off:</a:t>
            </a:r>
          </a:p>
          <a:p>
            <a:pPr lvl="1"/>
            <a:r>
              <a:t>Arm assembly — the single largest block of the build (top bottleneck); splittable across operators</a:t>
            </a:r>
          </a:p>
          <a:p>
            <a:pPr lvl="1"/>
            <a:r>
              <a:t>Seat-frame assembly — second bottleneck; gated by leg-piece insertion (no pre-drilled holes)</a:t>
            </a:r>
          </a:p>
          <a:p>
            <a:pPr lvl="1"/>
            <a:r>
              <a:t>Connector work (rivet nut -&gt; pre-assembly -&gt; plate -&gt; attachment) — heavy hand-rework on every unit</a:t>
            </a:r>
          </a:p>
          <a:p>
            <a:pPr/>
            <a:r>
              <a:t>Takt for 10 units/day (7-hr day): 42 min/unit</a:t>
            </a:r>
          </a:p>
          <a:p>
            <a:pPr/>
            <a:r>
              <a:t>Theoretical output today ~10 units/day at cycle ~41.5 min (7 operators), assuming parts available</a:t>
            </a:r>
          </a:p>
          <a:p>
            <a:pPr/>
            <a:r>
              <a:t>Implication: connectors and the seat-frame/leg steps are the highest-leverage targets — all fixable upstream.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2 — Eliminate Connector Screw Swaps &amp; Reorientation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Problem: every connector arrives from Vietnam as one generic type, so Operator 1 hand-reworks each one before use.</a:t>
            </a:r>
          </a:p>
          <a:p>
            <a:pPr lvl="1"/>
            <a:r>
              <a:t>Type #1 (front, x2): operator removes the 40200 screw and replaces it with 1012919 on every connector.</a:t>
            </a:r>
          </a:p>
          <a:p>
            <a:pPr lvl="1"/>
            <a:r>
              <a:t>Type #2 (back, left/right): arrives with 1012934; operator removes it and replaces with 402014.</a:t>
            </a:r>
          </a:p>
          <a:p>
            <a:pPr lvl="1"/>
            <a:r>
              <a:t>~Half of Type #2 also need their orientation flipped by hand — avoidable.</a:t>
            </a:r>
          </a:p>
          <a:p>
            <a:pPr/>
            <a:r>
              <a:t>Impact: this rework burns ~11 min 40 sec of labor per unit that adds zero value.</a:t>
            </a:r>
          </a:p>
          <a:p>
            <a:pPr/>
            <a:r>
              <a:t>Fix: order each connector under its own part number so Vietnam ships it already configured — front / back-left / back-right.</a:t>
            </a:r>
          </a:p>
          <a:p>
            <a:pPr/>
            <a:r>
              <a:t>Result: ~11:40 of labor per unit recovered to redeploy onto the bottleneck stations.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3 — Pre-Drill Connector Holes for Leg Insertion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Problem: connector holes are not pre-drilled for screw entry, so operators fight leg-piece insertion during seat-frame assembly.</a:t>
            </a:r>
          </a:p>
          <a:p>
            <a:pPr lvl="1"/>
            <a:r>
              <a:t>Seat-frame assembly is a top bottleneck — anything that slows it slows the whole line.</a:t>
            </a:r>
          </a:p>
          <a:p>
            <a:pPr/>
            <a:r>
              <a:t>Fix: pre-drill the connector holes (pilot holes for screw entry) before they reach the floor.</a:t>
            </a:r>
          </a:p>
          <a:p>
            <a:pPr/>
            <a:r>
              <a:t>Impact: saves at least 6 min per frame assembly, taken directly off the bottleneck.</a:t>
            </a:r>
          </a:p>
          <a:p>
            <a:pPr/>
            <a:r>
              <a:t>Because it hits the bottleneck, every minute saved here raises line throughput — not just labor.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4 — Receive Leg Pieces Pre-Assembled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Today leg pieces are assembled in-house, adding labor to the seat-frame bottleneck.</a:t>
            </a:r>
          </a:p>
          <a:p>
            <a:pPr/>
            <a:r>
              <a:t>There are two types of leg piece; one is used ~90% of the time.</a:t>
            </a:r>
          </a:p>
          <a:p>
            <a:pPr/>
            <a:r>
              <a:t>Fix: outsource the high-volume (90%) leg piece pre-assembled from manufacturing.</a:t>
            </a:r>
          </a:p>
          <a:p>
            <a:pPr lvl="1"/>
            <a:r>
              <a:t>Labor in another region is much cheaper than assembling it here — and it removes work from the bottleneck.</a:t>
            </a:r>
          </a:p>
          <a:p>
            <a:pPr/>
            <a:r>
              <a:t>Open issue: paint — the pre-assembled leg piece must arrive matching our finish. Resolve before outsourcing.</a:t>
            </a:r>
          </a:p>
          <a:p>
            <a:pPr/>
            <a:r>
              <a:t>Action: confirm paint spec / supplier finish capability, then transition the 90% leg piece to pre-assembled supply.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Balance to Takt — Meritage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Goal: every station under the 42-min takt to sustain 10 units/day.</a:t>
            </a:r>
          </a:p>
          <a:p>
            <a:pPr/>
            <a:r>
              <a:t>As-built cell: 8 operators, cycle ~47 min (seat-frame bound) -&gt; ~9 units/day — just short of takt.</a:t>
            </a:r>
          </a:p>
          <a:p>
            <a:pPr lvl="1"/>
            <a:r>
              <a:t>Lever 1: add a 2nd operator to seat frame -&gt; cycle ~43.5 (back-frame bound), ~9.7/day.</a:t>
            </a:r>
          </a:p>
          <a:p>
            <a:pPr lvl="1"/>
            <a:r>
              <a:t>Lever 2: add a 2nd operator to back frame -&gt; cycle ~38 min -&gt; ~11/day, clears takt.</a:t>
            </a:r>
          </a:p>
          <a:p>
            <a:pPr/>
            <a:r>
              <a:t>The upstream fixes compound: pre-drill + pre-assembled legs shrink the seat-frame bottleneck itself.</a:t>
            </a:r>
          </a:p>
          <a:p>
            <a:pPr/>
            <a:r>
              <a:t>Full assembly + packing is self-balancing today (assemble ~29 + pack ~18 = ~47) — packing fills the assemblers' wait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Labor-Savings Roll-Up &amp;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Per-unit labor recovered (measured / estimated):</a:t>
            </a:r>
          </a:p>
          <a:p>
            <a:pPr lvl="1"/>
            <a:r>
              <a:t>Connector screw swaps + reorientation: ~11 min 40 sec</a:t>
            </a:r>
          </a:p>
          <a:p>
            <a:pPr lvl="1"/>
            <a:r>
              <a:t>Pre-drill connector holes (seat-frame): &gt;= 6 min</a:t>
            </a:r>
          </a:p>
          <a:p>
            <a:pPr lvl="1"/>
            <a:r>
              <a:t>Pre-assembled leg pieces + pre-assembled connectors: additional, removes steps from the line</a:t>
            </a:r>
          </a:p>
          <a:p>
            <a:pPr/>
            <a:r>
              <a:t>Combined: ~18+ min/unit recovered, concentrated on the bottleneck -&gt; directly lifts throughput.</a:t>
            </a:r>
          </a:p>
          <a:p>
            <a:pPr/>
            <a:r>
              <a:t>Roadmap:</a:t>
            </a:r>
          </a:p>
          <a:p>
            <a:pPr lvl="1"/>
            <a:r>
              <a:t>1) Fix the connector BOM — give all 3 types their own part numbers (enables everything downstream)</a:t>
            </a:r>
          </a:p>
          <a:p>
            <a:pPr lvl="1"/>
            <a:r>
              <a:t>2) Move connector configuration + the 90% leg piece to pre-assembled supply from Vietnam</a:t>
            </a:r>
          </a:p>
          <a:p>
            <a:pPr lvl="1"/>
            <a:r>
              <a:t>3) Pre-drill connector holes</a:t>
            </a:r>
          </a:p>
          <a:p>
            <a:pPr lvl="1"/>
            <a:r>
              <a:t>4) Re-balance the cell to takt with the recovered labor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1060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Agenda</vt:lpstr>
      <vt:lpstr>Key Takeaways: Swivel  </vt:lpstr>
      <vt:lpstr>Improvements: Swivel  </vt:lpstr>
      <vt:lpstr>Key Takeaways: Meritage </vt:lpstr>
      <vt:lpstr>Improvements: Meritage  </vt:lpstr>
      <vt:lpstr>First Step to Pre-Assembly: Fix the Connector BOM</vt:lpstr>
      <vt:lpstr>Key Takeaways - Sola</vt:lpstr>
      <vt:lpstr>Operator Loading Chart by Task – Sola</vt:lpstr>
      <vt:lpstr>Improvements – Sola</vt:lpstr>
      <vt:lpstr>Thank you for your time </vt:lpstr>
      <vt:lpstr>Meritage Flat connectors (Classic type #1)</vt:lpstr>
      <vt:lpstr>Meritage Flat connectors  (Type #2 which is split between left and right)</vt:lpstr>
      <vt:lpstr>Meritage Flat connectors (both types)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Costa</dc:creator>
  <cp:lastModifiedBy>Mac O'Keefe</cp:lastModifiedBy>
  <cp:revision>20</cp:revision>
  <dcterms:created xsi:type="dcterms:W3CDTF">2026-06-17T19:39:29Z</dcterms:created>
  <dcterms:modified xsi:type="dcterms:W3CDTF">2026-06-23T16:19:48Z</dcterms:modified>
</cp:coreProperties>
</file>