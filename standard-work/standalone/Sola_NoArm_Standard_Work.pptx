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11" r:id="rId3"/>
    <p:sldId id="312" r:id="rId4"/>
    <p:sldId id="314" r:id="rId11"/>
    <p:sldId id="31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370FB-FD35-519B-7AE8-7E236CBF5376}" v="81" dt="2026-06-18T20:33:53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Relationship Id="rId11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4016-FA22-CE01-304D-205123619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BCAAE-BB82-2C0F-CEE9-B7B100A8A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0C4B-5C56-E230-E8A7-62486156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E40D-2C1B-63E7-C711-E7F27B38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1557C-ECD5-70A9-8826-AA616131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4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E8D6-6C57-5E89-D11A-856FC81E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A28A-8A97-B097-FC80-D94EFCDC5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87E99-B1ED-FBED-7DB9-5AECD140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A557-8CAE-8991-D049-C5A8107E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D8FE1-7D73-1D5D-C37F-5FA3ACFF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F98E-86E8-B4CA-C67A-359898FE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B846D-6E2D-9D67-F14C-87243D40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6273-861A-E991-DA43-00636DA5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9DDB5-189D-A384-CEA4-3BD2BA82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518A-B614-37FC-863E-A4843941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4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93D3-A21F-3795-4566-5D351DE4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4A3D-A546-27E1-8030-5E5511CB4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F968B-DFC4-9A85-900E-43FB3F9C6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DB4C4-FFB1-07A9-CC89-B02CB56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97C89-85E6-6316-0BDC-4542B390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B84AB-19EB-70CE-A097-DAECFE1C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E112-ADBA-3517-FF11-868BC8EE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7EAD4-974A-76BC-3163-529340851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D12D6-2A4E-2FD0-FE8E-9B7DEF31B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86737-7439-0832-B8ED-E20F470F6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78ECE-7188-355B-35B3-7321354A5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8C464-8094-ECAE-B5A4-29E14DCD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3F2A86-75F6-0AB6-9F38-10FC7714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94D414-08FD-7A10-5ECA-49D36916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8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5675-F986-CBE3-604B-5772B38F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E4B1F-5FD6-E9E1-D355-03B0C70B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E80BB-035C-49B4-670B-7F35BBD7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44A98-853F-3FC3-47AB-34ADFDED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48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F3853-2C7E-32B2-25F7-26F0BDBC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63404-5708-0A7C-B9FD-6E85D429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9AC7D-1B1D-4979-1D96-B699949E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0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1E7D2-F4EF-147F-BF14-01F89B93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0032-67E7-C3C0-2F14-109860280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597C6-C86C-2893-AC12-844B7E527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71BFA-7825-8949-5978-F1F68F40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8390-9B2D-A30F-F51F-2D3F471F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4EBED-9A4F-9CF4-A4C5-2F3C6FEE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5C2F-B0FD-9959-27A1-CAE27EC6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7D0B4-4F5E-CD30-FCD7-8214E9104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3101F-51CD-DCE5-690D-8BF19445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76A0D-E8AC-0D78-A202-723D55CF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B6365-7D40-6630-6E49-57D1C1D2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5A28-922C-3C00-C508-291CAF2D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0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E358-9C7B-26CE-682E-3BA95C7A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503E2-3892-EDDE-7692-920532DE2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756F8-345C-F069-CFEF-B1FA2F28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E8159-4FC3-745A-F5B5-B30036FE6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ACE29-4AA2-1D1B-F876-B5D4F6EA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0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AD697-4A2D-6986-9B85-3538281EF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38171-43D9-2FA8-2567-8F439B8E8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D6014-B110-DDC7-38C3-E9A373E4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DF84-D769-00FC-F6C6-1B1476E7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D371-131F-DDDE-958C-B6758209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45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"/>
          <p:cNvSpPr/>
          <p:nvPr/>
        </p:nvSpPr>
        <p:spPr>
          <a:xfrm>
            <a:off x="-6350" y="-12700"/>
            <a:ext cx="12204700" cy="6883400"/>
          </a:xfrm>
          <a:prstGeom prst="rect">
            <a:avLst/>
          </a:prstGeom>
          <a:solidFill>
            <a:srgbClr val="73747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l" defTabSz="207716">
              <a:lnSpc>
                <a:spcPct val="120000"/>
              </a:lnSpc>
              <a:spcBef>
                <a:spcPts val="0"/>
              </a:spcBef>
              <a:defRPr sz="2800" spc="-56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400"/>
          </a:p>
        </p:txBody>
      </p:sp>
      <p:sp>
        <p:nvSpPr>
          <p:cNvPr id="405" name="Rectangle"/>
          <p:cNvSpPr/>
          <p:nvPr userDrawn="1"/>
        </p:nvSpPr>
        <p:spPr>
          <a:xfrm>
            <a:off x="327660" y="290830"/>
            <a:ext cx="11536680" cy="62763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07716">
              <a:lnSpc>
                <a:spcPct val="120000"/>
              </a:lnSpc>
              <a:spcBef>
                <a:spcPts val="0"/>
              </a:spcBef>
              <a:defRPr sz="3000" spc="-59">
                <a:solidFill>
                  <a:schemeClr val="accent5">
                    <a:hueOff val="-246905"/>
                    <a:satOff val="-77181"/>
                    <a:lumOff val="20457"/>
                  </a:schemeClr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500"/>
          </a:p>
        </p:txBody>
      </p:sp>
      <p:sp>
        <p:nvSpPr>
          <p:cNvPr id="407" name="Content Title"/>
          <p:cNvSpPr txBox="1">
            <a:spLocks noGrp="1"/>
          </p:cNvSpPr>
          <p:nvPr>
            <p:ph type="title" hasCustomPrompt="1"/>
          </p:nvPr>
        </p:nvSpPr>
        <p:spPr>
          <a:xfrm>
            <a:off x="1028700" y="457265"/>
            <a:ext cx="10134600" cy="909701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737476"/>
                </a:solidFill>
                <a:latin typeface="+mj-lt"/>
              </a:defRPr>
            </a:lvl1pPr>
          </a:lstStyle>
          <a:p>
            <a:r>
              <a:rPr dirty="0"/>
              <a:t>Content Title</a:t>
            </a:r>
          </a:p>
        </p:txBody>
      </p:sp>
      <p:sp>
        <p:nvSpPr>
          <p:cNvPr id="4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30CDAFA4-4CF5-7267-C176-CA9BC1FBF07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28019" y="1844041"/>
            <a:ext cx="10135963" cy="3956502"/>
          </a:xfrm>
          <a:prstGeom prst="rect">
            <a:avLst/>
          </a:prstGeom>
        </p:spPr>
        <p:txBody>
          <a:bodyPr anchor="t"/>
          <a:lstStyle>
            <a:lvl1pPr marL="222250" indent="-222250" algn="l" defTabSz="1219169">
              <a:lnSpc>
                <a:spcPct val="100000"/>
              </a:lnSpc>
              <a:spcBef>
                <a:spcPts val="2100"/>
              </a:spcBef>
              <a:buSzPct val="100000"/>
              <a:buChar char="•"/>
              <a:defRPr sz="20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1pPr>
            <a:lvl2pPr marL="444500" indent="-222250" algn="l" defTabSz="1219169">
              <a:lnSpc>
                <a:spcPct val="100000"/>
              </a:lnSpc>
              <a:spcBef>
                <a:spcPts val="2100"/>
              </a:spcBef>
              <a:buSzPct val="100000"/>
              <a:buChar char="•"/>
              <a:defRPr sz="18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2pPr>
            <a:lvl3pPr marL="815975" indent="-371475" algn="l" defTabSz="1219169">
              <a:lnSpc>
                <a:spcPct val="100000"/>
              </a:lnSpc>
              <a:spcBef>
                <a:spcPts val="2100"/>
              </a:spcBef>
              <a:buSzPct val="100000"/>
              <a:buFont typeface="Arial" panose="020B0604020202020204" pitchFamily="34" charset="0"/>
              <a:buChar char="•"/>
              <a:defRPr sz="16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3pPr>
            <a:lvl4pPr marL="889000" indent="-222250" algn="l" defTabSz="1219169">
              <a:lnSpc>
                <a:spcPct val="80000"/>
              </a:lnSpc>
              <a:spcBef>
                <a:spcPts val="2100"/>
              </a:spcBef>
              <a:buSzPct val="100000"/>
              <a:buChar char="•"/>
              <a:defRPr sz="14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4pPr>
            <a:lvl5pPr marL="1111250" indent="-222250" algn="l" defTabSz="1219169">
              <a:lnSpc>
                <a:spcPct val="80000"/>
              </a:lnSpc>
              <a:spcBef>
                <a:spcPts val="2100"/>
              </a:spcBef>
              <a:buSzPct val="100000"/>
              <a:buChar char="•"/>
              <a:defRPr sz="20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5pPr>
          </a:lstStyle>
          <a:p>
            <a:pPr lvl="0"/>
            <a:r>
              <a:rPr lang="en-US" dirty="0"/>
              <a:t>Main 1</a:t>
            </a:r>
          </a:p>
          <a:p>
            <a:pPr lvl="0"/>
            <a:r>
              <a:rPr lang="en-US" dirty="0"/>
              <a:t>Main 2</a:t>
            </a:r>
          </a:p>
          <a:p>
            <a:pPr lvl="1"/>
            <a:r>
              <a:rPr lang="en-US" dirty="0"/>
              <a:t>Sub 1 </a:t>
            </a:r>
          </a:p>
          <a:p>
            <a:pPr lvl="1"/>
            <a:r>
              <a:rPr lang="en-US" dirty="0"/>
              <a:t>Sub 2</a:t>
            </a:r>
          </a:p>
          <a:p>
            <a:pPr lvl="2"/>
            <a:r>
              <a:rPr lang="en-US" dirty="0"/>
              <a:t>Sub 2a</a:t>
            </a:r>
          </a:p>
          <a:p>
            <a:pPr lvl="2"/>
            <a:r>
              <a:rPr lang="en-US" dirty="0"/>
              <a:t>Sub 2b</a:t>
            </a:r>
          </a:p>
          <a:p>
            <a:pPr lvl="3"/>
            <a:r>
              <a:rPr lang="en-US" dirty="0"/>
              <a:t>Sub 2bi</a:t>
            </a:r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4" name="Picture 3" descr="A picture containing silhouette, plant&#10;&#10;Description automatically generated">
            <a:extLst>
              <a:ext uri="{FF2B5EF4-FFF2-40B4-BE49-F238E27FC236}">
                <a16:creationId xmlns:a16="http://schemas.microsoft.com/office/drawing/2014/main" id="{6A47F707-7F7A-44F1-E09F-E04DC1C563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3502" y="6104072"/>
            <a:ext cx="1649987" cy="40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0688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"/>
          <p:cNvSpPr/>
          <p:nvPr/>
        </p:nvSpPr>
        <p:spPr>
          <a:xfrm>
            <a:off x="-6350" y="-12700"/>
            <a:ext cx="12204700" cy="6883400"/>
          </a:xfrm>
          <a:prstGeom prst="rect">
            <a:avLst/>
          </a:prstGeom>
          <a:solidFill>
            <a:srgbClr val="73747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l" defTabSz="207716">
              <a:lnSpc>
                <a:spcPct val="120000"/>
              </a:lnSpc>
              <a:spcBef>
                <a:spcPts val="0"/>
              </a:spcBef>
              <a:defRPr sz="2800" spc="-56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400"/>
          </a:p>
        </p:txBody>
      </p:sp>
      <p:pic>
        <p:nvPicPr>
          <p:cNvPr id="85" name="Image" descr="Image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0648" y="3106005"/>
            <a:ext cx="3949909" cy="645991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4462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8BBD4-2A27-8653-4250-BB052B39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645A3-F900-023C-0932-F612D4843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EE3A-86E7-9D84-B7DB-F8FE93D63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F44BB-14DF-43E9-8FF7-086183F60DE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A4C2-6A03-78A6-9DF6-02F8AE102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D04D0-6DF8-65BA-0D8D-76201F53B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7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8C759-B4D3-1D90-C69F-F9AF52F8E206}"/>
              </a:ext>
            </a:extLst>
          </p:cNvPr>
          <p:cNvSpPr txBox="1"/>
          <p:nvPr/>
        </p:nvSpPr>
        <p:spPr>
          <a:xfrm>
            <a:off x="818334" y="1918624"/>
            <a:ext cx="6743753" cy="13419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ctr">
            <a:spAutoFit/>
          </a:bodyPr>
          <a:lstStyle/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rPr lang="en-US" sz="4400">
                <a:solidFill>
                  <a:schemeClr val="bg1"/>
                </a:solidFill>
                <a:latin typeface="+mj-lt"/>
                <a:ea typeface="Proxima Nova Medium"/>
                <a:cs typeface="Proxima Nova Medium"/>
                <a:sym typeface="Proxima Nova Medium"/>
              </a:rPr>
              <a:t>Sola Lounge No-Arm Standard Work </a:t>
            </a:r>
            <a:r>
              <a:rPr lang="en-US" sz="4400" dirty="0">
                <a:solidFill>
                  <a:schemeClr val="bg1"/>
                </a:solidFill>
                <a:latin typeface="+mj-lt"/>
                <a:ea typeface="Proxima Nova Medium"/>
                <a:cs typeface="Proxima Nova Medium"/>
                <a:sym typeface="Proxima Nova Medium"/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4F3D6-6317-85ED-5F90-EDE4B30CCE7A}"/>
              </a:ext>
            </a:extLst>
          </p:cNvPr>
          <p:cNvSpPr txBox="1"/>
          <p:nvPr/>
        </p:nvSpPr>
        <p:spPr>
          <a:xfrm>
            <a:off x="951685" y="3432307"/>
            <a:ext cx="2681287" cy="4909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ctr">
            <a:spAutoFit/>
          </a:bodyPr>
          <a:lstStyle/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rPr lang="en-US" sz="1050" b="1">
                <a:solidFill>
                  <a:schemeClr val="bg1"/>
                </a:solidFill>
                <a:latin typeface="+mj-lt"/>
              </a:rPr>
              <a:t>Douglas O'Keefe</a:t>
            </a:r>
            <a:endParaRPr lang="en-US" b="1">
              <a:solidFill>
                <a:schemeClr val="bg1"/>
              </a:solidFill>
              <a:latin typeface="+mj-lt"/>
              <a:ea typeface="Proxima Nova Medium"/>
              <a:cs typeface="Proxima Nova Medium"/>
            </a:endParaRPr>
          </a:p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rPr lang="en-US" sz="1050" b="1">
                <a:solidFill>
                  <a:schemeClr val="bg1"/>
                </a:solidFill>
                <a:latin typeface="+mj-lt"/>
              </a:rPr>
              <a:t>06/18/2026</a:t>
            </a:r>
            <a:endParaRPr lang="en-US" sz="1450" b="1" dirty="0">
              <a:solidFill>
                <a:schemeClr val="bg1"/>
              </a:solidFill>
              <a:latin typeface="+mj-lt"/>
              <a:ea typeface="Proxima Nova Medium"/>
              <a:cs typeface="Proxima Nova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A8FB91-CE9C-32F3-F900-6A26DC906367}"/>
              </a:ext>
            </a:extLst>
          </p:cNvPr>
          <p:cNvCxnSpPr/>
          <p:nvPr/>
        </p:nvCxnSpPr>
        <p:spPr>
          <a:xfrm>
            <a:off x="951685" y="3105805"/>
            <a:ext cx="239232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37883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A2AF-CBBA-1D8D-1D92-E2563704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20CB3-3005-424E-C8D0-64E65EEF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current state standard work procedure</a:t>
            </a:r>
          </a:p>
          <a:p>
            <a:pPr lvl="1"/>
            <a:r>
              <a:rPr lang="en-US" dirty="0"/>
              <a:t>Cycle Time</a:t>
            </a:r>
          </a:p>
          <a:p>
            <a:pPr lvl="1"/>
            <a:r>
              <a:rPr lang="en-US" dirty="0"/>
              <a:t>Theoretical Output</a:t>
            </a:r>
          </a:p>
          <a:p>
            <a:pPr lvl="1"/>
            <a:r>
              <a:rPr lang="en-US" dirty="0"/>
              <a:t>Order of Operations</a:t>
            </a:r>
          </a:p>
          <a:p>
            <a:r>
              <a:rPr lang="en-US" dirty="0"/>
              <a:t>Operator Loading Chart by Task</a:t>
            </a:r>
          </a:p>
          <a:p>
            <a:r>
              <a:rPr lang="en-US" dirty="0"/>
              <a:t>Potential Improvements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05881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8A62-D0C7-6EBB-2F3B-10D17982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73628-9B98-D01A-F206-8718B5EC1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 Lounge (No-Arm)</a:t>
            </a:r>
            <a:r>
              <a:rPr lang="en-US"/>
              <a:t> Sofa assembly labor time: 124 min</a:t>
            </a:r>
          </a:p>
          <a:p>
            <a:r>
              <a:rPr lang="en-US" dirty="0"/>
              <a:t>Theoretical output based on cycle time (36.8 min), assuming parts are available from paint.</a:t>
            </a:r>
          </a:p>
          <a:p>
            <a:pPr lvl="1"/>
            <a:r>
              <a:rPr lang="en-US" dirty="0"/>
              <a:t>~11 units per day (4 operators)</a:t>
            </a:r>
          </a:p>
          <a:p>
            <a:pPr lvl="1"/>
            <a:r>
              <a:rPr lang="en-US" dirty="0"/>
              <a:t>Takt time required (demand of 10 units): 42 min</a:t>
            </a:r>
          </a:p>
        </p:txBody>
      </p:sp>
    </p:spTree>
    <p:extLst>
      <p:ext uri="{BB962C8B-B14F-4D97-AF65-F5344CB8AC3E}">
        <p14:creationId xmlns:p14="http://schemas.microsoft.com/office/powerpoint/2010/main" val="39674486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 Loading Chart by Task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35608" y="534924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78408" y="5248655"/>
            <a:ext cx="411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35608" y="445770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8408" y="4357116"/>
            <a:ext cx="411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35608" y="356616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78408" y="3465576"/>
            <a:ext cx="411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35608" y="267462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8408" y="2574036"/>
            <a:ext cx="411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36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35608" y="178308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78408" y="1682496"/>
            <a:ext cx="411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48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8515" y="4717732"/>
            <a:ext cx="805815" cy="631507"/>
          </a:xfrm>
          <a:prstGeom prst="rect">
            <a:avLst/>
          </a:prstGeom>
          <a:solidFill>
            <a:srgbClr val="4472C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8515" y="4923758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38515" y="3851452"/>
            <a:ext cx="805815" cy="866279"/>
          </a:xfrm>
          <a:prstGeom prst="rect">
            <a:avLst/>
          </a:prstGeom>
          <a:solidFill>
            <a:srgbClr val="70AD4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8515" y="4174864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8515" y="2885617"/>
            <a:ext cx="805815" cy="965834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8515" y="3258807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8515" y="2613698"/>
            <a:ext cx="805815" cy="271919"/>
          </a:xfrm>
          <a:prstGeom prst="rect">
            <a:avLst/>
          </a:prstGeom>
          <a:solidFill>
            <a:srgbClr val="5B9BD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38515" y="2639929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4195" y="2375954"/>
            <a:ext cx="13544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36.8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4195" y="5404103"/>
            <a:ext cx="13544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S1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0145" y="4086225"/>
            <a:ext cx="805815" cy="1263014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0145" y="4608004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0145" y="2786062"/>
            <a:ext cx="805815" cy="1300162"/>
          </a:xfrm>
          <a:prstGeom prst="rect">
            <a:avLst/>
          </a:prstGeom>
          <a:solidFill>
            <a:srgbClr val="A5A5A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0145" y="3326415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5825" y="2548318"/>
            <a:ext cx="13544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34.5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5825" y="5404103"/>
            <a:ext cx="13544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S2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1775" y="2897505"/>
            <a:ext cx="805815" cy="2451734"/>
          </a:xfrm>
          <a:prstGeom prst="rect">
            <a:avLst/>
          </a:prstGeom>
          <a:solidFill>
            <a:srgbClr val="843C0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1775" y="4013644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7455" y="2659761"/>
            <a:ext cx="13544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7455" y="5404103"/>
            <a:ext cx="13544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S3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3405" y="4352944"/>
            <a:ext cx="805815" cy="996295"/>
          </a:xfrm>
          <a:prstGeom prst="rect">
            <a:avLst/>
          </a:prstGeom>
          <a:solidFill>
            <a:srgbClr val="54823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3405" y="4741364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3405" y="3858139"/>
            <a:ext cx="805815" cy="494804"/>
          </a:xfrm>
          <a:prstGeom prst="rect">
            <a:avLst/>
          </a:prstGeom>
          <a:solidFill>
            <a:srgbClr val="843C0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3405" y="3995813"/>
            <a:ext cx="805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9085" y="3620395"/>
            <a:ext cx="13544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20.1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9085" y="5404103"/>
            <a:ext cx="13544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S4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35608" y="2228850"/>
            <a:ext cx="6446519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01967" y="2009393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C00000"/>
                </a:solidFill>
                <a:latin typeface="Calibri"/>
              </a:rPr>
              <a:t>Takt 42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463039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404040"/>
                </a:solidFill>
                <a:latin typeface="Calibri"/>
              </a:rPr>
              <a:t>Tasks (SWI step #)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755648"/>
            <a:ext cx="146304" cy="146304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7344" y="17190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#2  </a:t>
            </a:r>
            <a:r>
              <a:rPr sz="950" b="0">
                <a:solidFill>
                  <a:srgbClr val="404040"/>
                </a:solidFill>
                <a:latin typeface="Calibri"/>
              </a:rPr>
              <a:t>Rivet Nut Installation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103120"/>
            <a:ext cx="146304" cy="146304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4" y="2066543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#3  </a:t>
            </a:r>
            <a:r>
              <a:rPr sz="950" b="0">
                <a:solidFill>
                  <a:srgbClr val="404040"/>
                </a:solidFill>
                <a:latin typeface="Calibri"/>
              </a:rPr>
              <a:t>Connector Pre-Assembly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2450592"/>
            <a:ext cx="146304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67344" y="24140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#4  </a:t>
            </a:r>
            <a:r>
              <a:rPr sz="950" b="0">
                <a:solidFill>
                  <a:srgbClr val="404040"/>
                </a:solidFill>
                <a:latin typeface="Calibri"/>
              </a:rPr>
              <a:t>Connector Plate Installation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2798064"/>
            <a:ext cx="146304" cy="14630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67344" y="2761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#5  </a:t>
            </a:r>
            <a:r>
              <a:rPr sz="950" b="0">
                <a:solidFill>
                  <a:srgbClr val="404040"/>
                </a:solidFill>
                <a:latin typeface="Calibri"/>
              </a:rPr>
              <a:t>Connector Attachment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145536"/>
            <a:ext cx="146304" cy="1463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67344" y="31089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#6  </a:t>
            </a:r>
            <a:r>
              <a:rPr sz="950" b="0">
                <a:solidFill>
                  <a:srgbClr val="404040"/>
                </a:solidFill>
                <a:latin typeface="Calibri"/>
              </a:rPr>
              <a:t>Frame Sub-Assembly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493008"/>
            <a:ext cx="146304" cy="146304"/>
          </a:xfrm>
          <a:prstGeom prst="rect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67344" y="34564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#7  </a:t>
            </a:r>
            <a:r>
              <a:rPr sz="950" b="0">
                <a:solidFill>
                  <a:srgbClr val="404040"/>
                </a:solidFill>
                <a:latin typeface="Calibri"/>
              </a:rPr>
              <a:t>Frame Connection Assembly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840479"/>
            <a:ext cx="146304" cy="146304"/>
          </a:xfrm>
          <a:prstGeom prst="rect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67344" y="38039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#8  </a:t>
            </a:r>
            <a:r>
              <a:rPr sz="950" b="0">
                <a:solidFill>
                  <a:srgbClr val="404040"/>
                </a:solidFill>
                <a:latin typeface="Calibri"/>
              </a:rPr>
              <a:t>Seat Support Frame Assembly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4187952"/>
            <a:ext cx="146304" cy="14630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7344" y="41513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#9  </a:t>
            </a:r>
            <a:r>
              <a:rPr sz="950" b="0">
                <a:solidFill>
                  <a:srgbClr val="404040"/>
                </a:solidFill>
                <a:latin typeface="Calibri"/>
              </a:rPr>
              <a:t>Trellis Frame Installation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4535423"/>
            <a:ext cx="146304" cy="146304"/>
          </a:xfrm>
          <a:prstGeom prst="rect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67344" y="4498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#10  </a:t>
            </a:r>
            <a:r>
              <a:rPr sz="950" b="0">
                <a:solidFill>
                  <a:srgbClr val="404040"/>
                </a:solidFill>
                <a:latin typeface="Calibri"/>
              </a:rPr>
              <a:t>Corner Cap &amp; End Cap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" y="58064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Takt 42 min   ·   Cycle time 36.8 min   ·   Capacity ~11 units/day   ·   84% line efficiency   ·   </a:t>
            </a:r>
            <a:r>
              <a:rPr sz="1100" b="0">
                <a:solidFill>
                  <a:srgbClr val="404040"/>
                </a:solidFill>
                <a:latin typeface="Calibri"/>
              </a:rPr>
              <a:t>Seat Support (#8, 33 min) is the bottleneck — splitting it 2-up unlocks more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F6A0-47EF-52F0-F471-A3C9F254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09034-701E-75E5-9BB2-7BA8BB756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Balance the line to takt: 4-station layout, every station under the 42-min takt (~11 units/day at ~84% efficiency)</a:t>
            </a:r>
          </a:p>
          <a:p>
            <a:pPr/>
            <a:r>
              <a:t>Split the Seat Support / trellis assembly (#8, 33 min) — the bottleneck; multiple slats make it parallelizable, so 2 builders unlock more output</a:t>
            </a:r>
          </a:p>
          <a:p>
            <a:pPr/>
            <a:r>
              <a:t>Connectors delivered correct &amp; pre-drilled (Connector Pre-Assembly + Plate + Attachment ≈ 28 min combined) — cut prep and drilling time</a:t>
            </a:r>
          </a:p>
          <a:p>
            <a:pPr/>
            <a:r>
              <a:t>Rivet nuts pre-installed by the supplier where possible (Rivet Nut Installation, #2)</a:t>
            </a:r>
          </a:p>
          <a:p>
            <a:pPr/>
            <a:r>
              <a:t>Point-of-use storage / kit parts per unit to cut walking and fetching</a:t>
            </a:r>
          </a:p>
          <a:p>
            <a:pPr/>
            <a:r>
              <a:t>Standardize cordless tools &amp; batteries and stage a tool set at each station</a:t>
            </a:r>
          </a:p>
          <a:p>
            <a:pPr/>
            <a:r>
              <a:t>Clearer quality standards to reduce wait time between assembly and packing approval</a:t>
            </a:r>
          </a:p>
        </p:txBody>
      </p:sp>
    </p:spTree>
    <p:extLst>
      <p:ext uri="{BB962C8B-B14F-4D97-AF65-F5344CB8AC3E}">
        <p14:creationId xmlns:p14="http://schemas.microsoft.com/office/powerpoint/2010/main" val="18344268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110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Agenda</vt:lpstr>
      <vt:lpstr>Key Takeaways</vt:lpstr>
      <vt:lpstr>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Costa</dc:creator>
  <cp:lastModifiedBy>Anthony Costa</cp:lastModifiedBy>
  <cp:revision>14</cp:revision>
  <dcterms:created xsi:type="dcterms:W3CDTF">2026-06-17T19:39:29Z</dcterms:created>
  <dcterms:modified xsi:type="dcterms:W3CDTF">2026-06-18T20:37:15Z</dcterms:modified>
</cp:coreProperties>
</file>