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0">
                <a:solidFill>
                  <a:srgbClr val="15171A"/>
                </a:solidFill>
                <a:latin typeface="Times New Roman"/>
              </a:rPr>
              <a:t>TUUCI</a:t>
            </a:r>
          </a:p>
        </p:txBody>
      </p:sp>
      <p:sp>
        <p:nvSpPr>
          <p:cNvPr id="5" name="Arc 4"/>
          <p:cNvSpPr/>
          <p:nvPr/>
        </p:nvSpPr>
        <p:spPr>
          <a:xfrm>
            <a:off x="960120" y="2542032"/>
            <a:ext cx="1828800" cy="292608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6B39"/>
                </a:solidFill>
                <a:latin typeface="Calibri"/>
              </a:rPr>
              <a:t>STANDARD WORK · LINE-BALANCE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5171A"/>
                </a:solidFill>
                <a:latin typeface="Calibri"/>
              </a:rPr>
              <a:t>Meritage 3-Seater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1F2326"/>
                </a:solidFill>
                <a:latin typeface="Calibri"/>
              </a:rPr>
              <a:t>Where the labor goes — and how we level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5029200"/>
            <a:ext cx="914400" cy="4572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6B7178"/>
                </a:solidFill>
                <a:latin typeface="Calibri"/>
              </a:rPr>
              <a:t>Findings from the standard-work data, with a proposed balanced line to meet a 10-unit/day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AB0B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5171A"/>
                </a:solidFill>
                <a:latin typeface="Times New Roman"/>
              </a:rPr>
              <a:t>TUUCI</a:t>
            </a:r>
          </a:p>
        </p:txBody>
      </p:sp>
      <p:sp>
        <p:nvSpPr>
          <p:cNvPr id="4" name="Arc 3"/>
          <p:cNvSpPr/>
          <p:nvPr/>
        </p:nvSpPr>
        <p:spPr>
          <a:xfrm>
            <a:off x="658368" y="676656"/>
            <a:ext cx="868680" cy="164592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9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178"/>
                </a:solidFill>
                <a:latin typeface="Calibri"/>
              </a:rPr>
              <a:t>Meritage 3-Seater · Headlines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AB0B3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8A6B39"/>
                </a:solidFill>
                <a:latin typeface="Calibri"/>
              </a:rPr>
              <a:t>THE NUMBERS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5171A"/>
                </a:solidFill>
                <a:latin typeface="Calibri"/>
              </a:rPr>
              <a:t>One Meritage carries 254 minutes of hands-on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78"/>
                </a:solidFill>
                <a:latin typeface="Calibri"/>
              </a:rPr>
              <a:t>Summed straight from the standard work instruction — 11 timed steps (the PPE step has no time).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97480"/>
            <a:ext cx="2542032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2542032" cy="64008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898648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71A"/>
                </a:solidFill>
                <a:latin typeface="Calibri"/>
              </a:rPr>
              <a:t>254</a:t>
            </a:r>
            <a:r>
              <a:rPr sz="1300" b="1">
                <a:solidFill>
                  <a:srgbClr val="6B7178"/>
                </a:solidFill>
                <a:latin typeface="Calibri"/>
              </a:rPr>
              <a:t>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53872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F53"/>
                </a:solidFill>
                <a:latin typeface="Calibri"/>
              </a:rPr>
              <a:t>Total labor per unit (4.24 labor-hours of hands-on work)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97480"/>
            <a:ext cx="2542032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2697480"/>
            <a:ext cx="2542032" cy="64008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2898648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71A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53872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F53"/>
                </a:solidFill>
                <a:latin typeface="Calibri"/>
              </a:rPr>
              <a:t>Timed work steps (SWI steps 2–12)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697480"/>
            <a:ext cx="2542032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697480"/>
            <a:ext cx="2542032" cy="64008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898648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71A"/>
                </a:solidFill>
                <a:latin typeface="Calibri"/>
              </a:rPr>
              <a:t>64</a:t>
            </a:r>
            <a:r>
              <a:rPr sz="1300" b="1">
                <a:solidFill>
                  <a:srgbClr val="6B7178"/>
                </a:solidFill>
                <a:latin typeface="Calibri"/>
              </a:rPr>
              <a:t>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353872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F53"/>
                </a:solidFill>
                <a:latin typeface="Calibri"/>
              </a:rPr>
              <a:t>Biggest single step — Step 4, Arms Assembly (25% of the build)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697480"/>
            <a:ext cx="2542032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2697480"/>
            <a:ext cx="2542032" cy="64008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2898648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71A"/>
                </a:solidFill>
                <a:latin typeface="Calibri"/>
              </a:rPr>
              <a:t>61</a:t>
            </a:r>
            <a:r>
              <a:rPr sz="1300" b="1">
                <a:solidFill>
                  <a:srgbClr val="6B7178"/>
                </a:solidFill>
                <a:latin typeface="Calibri"/>
              </a:rPr>
              <a:t>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53872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F53"/>
                </a:solidFill>
                <a:latin typeface="Calibri"/>
              </a:rPr>
              <a:t>of all labor sits in just 3 steps (Arms, Seat Frame, Back Frame)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72000"/>
            <a:ext cx="10908792" cy="1051560"/>
          </a:xfrm>
          <a:prstGeom prst="roundRect">
            <a:avLst/>
          </a:prstGeom>
          <a:solidFill>
            <a:srgbClr val="FFF7EC"/>
          </a:solidFill>
          <a:ln w="9525">
            <a:solidFill>
              <a:srgbClr val="F0D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72000"/>
            <a:ext cx="64008" cy="1051560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73168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5171A"/>
                </a:solidFill>
                <a:latin typeface="Calibri"/>
              </a:rPr>
              <a:t>Labor-hours vs. clock time.  </a:t>
            </a:r>
            <a:r>
              <a:rPr sz="1350" b="0">
                <a:solidFill>
                  <a:srgbClr val="1F2326"/>
                </a:solidFill>
                <a:latin typeface="Calibri"/>
              </a:rPr>
              <a:t>254 min is total hands-on work — if one person built it alone. With a few builders working in parallel the wall-clock time per unit is much shorter; this study is about </a:t>
            </a:r>
            <a:r>
              <a:rPr sz="1350" b="1">
                <a:solidFill>
                  <a:srgbClr val="15171A"/>
                </a:solidFill>
                <a:latin typeface="Calibri"/>
              </a:rPr>
              <a:t>spreading those 254 minutes evenly</a:t>
            </a:r>
            <a:r>
              <a:rPr sz="1350" b="0">
                <a:solidFill>
                  <a:srgbClr val="1F2326"/>
                </a:solidFill>
                <a:latin typeface="Calibri"/>
              </a:rPr>
              <a:t> so the line 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5171A"/>
                </a:solidFill>
                <a:latin typeface="Times New Roman"/>
              </a:rPr>
              <a:t>TUUCI</a:t>
            </a:r>
          </a:p>
        </p:txBody>
      </p:sp>
      <p:sp>
        <p:nvSpPr>
          <p:cNvPr id="4" name="Arc 3"/>
          <p:cNvSpPr/>
          <p:nvPr/>
        </p:nvSpPr>
        <p:spPr>
          <a:xfrm>
            <a:off x="658368" y="676656"/>
            <a:ext cx="868680" cy="164592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9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178"/>
                </a:solidFill>
                <a:latin typeface="Calibri"/>
              </a:rPr>
              <a:t>Meritage 3-Seater ·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AB0B3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8A6B39"/>
                </a:solidFill>
                <a:latin typeface="Calibri"/>
              </a:rPr>
              <a:t>WHERE THE TIME CONCENTRATES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5171A"/>
                </a:solidFill>
                <a:latin typeface="Calibri"/>
              </a:rPr>
              <a:t>Three assemblies dominate — and each is bigger than takt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5212080"/>
            <a:ext cx="6583680" cy="0"/>
          </a:xfrm>
          <a:prstGeom prst="line">
            <a:avLst/>
          </a:prstGeom>
          <a:ln w="12700">
            <a:solidFill>
              <a:srgbClr val="E0D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41827" y="2377440"/>
            <a:ext cx="395020" cy="2834640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387" y="2139696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099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0344" y="3130391"/>
            <a:ext cx="395020" cy="2081688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8904" y="2892647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0616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38860" y="3285410"/>
            <a:ext cx="395020" cy="1926669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420" y="3047666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43.5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9132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37376" y="4215526"/>
            <a:ext cx="395020" cy="996553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5936" y="3977782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22.5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7648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5893" y="4359473"/>
            <a:ext cx="395020" cy="852606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453" y="4121729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19.2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6165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34409" y="4414837"/>
            <a:ext cx="395020" cy="797242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2969" y="4177093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4681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2925" y="4414837"/>
            <a:ext cx="395020" cy="797242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1485" y="4177093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3197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1442" y="4857750"/>
            <a:ext cx="395020" cy="35433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0002" y="4620006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1714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29958" y="4857750"/>
            <a:ext cx="395020" cy="35433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8518" y="4620006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20230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8475" y="4990623"/>
            <a:ext cx="395020" cy="221456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7035" y="4752879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8747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6991" y="5167788"/>
            <a:ext cx="395020" cy="44291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35551" y="4930044"/>
            <a:ext cx="5779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A4148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7263" y="5266944"/>
            <a:ext cx="6144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178"/>
                </a:solidFill>
                <a:latin typeface="Calibri"/>
              </a:rPr>
              <a:t>#12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" y="3351847"/>
            <a:ext cx="6583680" cy="0"/>
          </a:xfrm>
          <a:prstGeom prst="line">
            <a:avLst/>
          </a:prstGeom>
          <a:ln w="17780">
            <a:solidFill>
              <a:srgbClr val="B1542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852160" y="3114103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1542F"/>
                </a:solidFill>
                <a:latin typeface="Calibri"/>
              </a:rPr>
              <a:t>takt 42 min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39338" y="3974538"/>
            <a:ext cx="598516" cy="524004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537854" y="3489555"/>
            <a:ext cx="598516" cy="484983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136370" y="3238702"/>
            <a:ext cx="598517" cy="250853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734887" y="3024083"/>
            <a:ext cx="598516" cy="214619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333403" y="2823401"/>
            <a:ext cx="598517" cy="200682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931920" y="2622718"/>
            <a:ext cx="598516" cy="200683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530436" y="2533526"/>
            <a:ext cx="598516" cy="89192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8952" y="2444334"/>
            <a:ext cx="598517" cy="89192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727469" y="2388589"/>
            <a:ext cx="598516" cy="55745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325985" y="2377440"/>
            <a:ext cx="598516" cy="11149"/>
          </a:xfrm>
          <a:prstGeom prst="line">
            <a:avLst/>
          </a:prstGeom>
          <a:ln w="19050">
            <a:solidFill>
              <a:srgbClr val="A88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0080" y="580644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178"/>
                </a:solidFill>
                <a:latin typeface="Calibri"/>
              </a:rPr>
              <a:t>Bars = minutes per step (sorted).  </a:t>
            </a:r>
            <a:r>
              <a:rPr sz="1100" b="1">
                <a:solidFill>
                  <a:srgbClr val="8A6B39"/>
                </a:solidFill>
                <a:latin typeface="Calibri"/>
              </a:rPr>
              <a:t>Gold line = cumulative %.  </a:t>
            </a:r>
            <a:r>
              <a:rPr sz="1100" b="1">
                <a:solidFill>
                  <a:srgbClr val="B1542F"/>
                </a:solidFill>
                <a:latin typeface="Calibri"/>
              </a:rPr>
              <a:t>Dashed = 42-min takt.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79" y="2286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5171A"/>
                </a:solidFill>
                <a:latin typeface="Calibri"/>
              </a:rPr>
              <a:t>Step 4 — Arms Assembly: 64 min.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450" b="0">
                <a:solidFill>
                  <a:srgbClr val="1F2326"/>
                </a:solidFill>
                <a:latin typeface="Calibri"/>
              </a:rPr>
              <a:t> A quarter of the build, and 1.5× the takt by itself.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3200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5171A"/>
                </a:solidFill>
                <a:latin typeface="Calibri"/>
              </a:rPr>
              <a:t>Step 5 — Seat Frame: 47 min</a:t>
            </a:r>
            <a:r>
              <a:rPr sz="1450" b="0">
                <a:solidFill>
                  <a:srgbClr val="1F2326"/>
                </a:solidFill>
                <a:latin typeface="Calibri"/>
              </a:rPr>
              <a:t> and </a:t>
            </a:r>
            <a:r>
              <a:rPr sz="1450" b="1">
                <a:solidFill>
                  <a:srgbClr val="15171A"/>
                </a:solidFill>
                <a:latin typeface="Calibri"/>
              </a:rPr>
              <a:t>Step 6 — Back Frame: 43.5 min.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41605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5171A"/>
                </a:solidFill>
                <a:latin typeface="Calibri"/>
              </a:rPr>
              <a:t>These three steps = 61% of the labor.</a:t>
            </a:r>
            <a:r>
              <a:rPr sz="1450" b="0">
                <a:solidFill>
                  <a:srgbClr val="1F2326"/>
                </a:solidFill>
                <a:latin typeface="Calibri"/>
              </a:rPr>
              <a:t> Fix these and you move the line.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502920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5171A"/>
                </a:solidFill>
                <a:latin typeface="Calibri"/>
              </a:rPr>
              <a:t>All three exceed the 42-min takt,</a:t>
            </a:r>
            <a:r>
              <a:rPr sz="1450" b="0">
                <a:solidFill>
                  <a:srgbClr val="1F2326"/>
                </a:solidFill>
                <a:latin typeface="Calibri"/>
              </a:rPr>
              <a:t> so alone they cap output no matter how the rest is staffed.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178"/>
                </a:solidFill>
                <a:latin typeface="Calibri"/>
              </a:rPr>
              <a:t>Takt = 420 min (7 hr) ÷ 10 units = 42 min per unit — the pace we must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5171A"/>
                </a:solidFill>
                <a:latin typeface="Times New Roman"/>
              </a:rPr>
              <a:t>TUUCI</a:t>
            </a:r>
          </a:p>
        </p:txBody>
      </p:sp>
      <p:sp>
        <p:nvSpPr>
          <p:cNvPr id="4" name="Arc 3"/>
          <p:cNvSpPr/>
          <p:nvPr/>
        </p:nvSpPr>
        <p:spPr>
          <a:xfrm>
            <a:off x="658368" y="676656"/>
            <a:ext cx="868680" cy="164592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9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178"/>
                </a:solidFill>
                <a:latin typeface="Calibri"/>
              </a:rPr>
              <a:t>Meritage 3-Seater · 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AB0B3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8A6B39"/>
                </a:solidFill>
                <a:latin typeface="Calibri"/>
              </a:rPr>
              <a:t>WHERE WE CAN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5171A"/>
                </a:solidFill>
                <a:latin typeface="Calibri"/>
              </a:rPr>
              <a:t>Put hands where the hours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78"/>
                </a:solidFill>
                <a:latin typeface="Calibri"/>
              </a:rPr>
              <a:t>The three big assemblies are buildable in parallel — more than one person can work them at once. Splitting them is what brings every station under takt.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74320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Now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 builders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71A"/>
                          </a:solidFill>
                          <a:latin typeface="Calibri"/>
                        </a:rPr>
                        <a:t>#4  Arms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2326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4F7A5B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71A"/>
                          </a:solidFill>
                          <a:latin typeface="Calibri"/>
                        </a:rPr>
                        <a:t>#5  Seat Frame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2326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4F7A5B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71A"/>
                          </a:solidFill>
                          <a:latin typeface="Calibri"/>
                        </a:rPr>
                        <a:t>#6  Back Frame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2326"/>
                          </a:solidFill>
                          <a:latin typeface="Calibri"/>
                        </a:rPr>
                        <a:t>43.5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4F7A5B"/>
                          </a:solidFill>
                          <a:latin typeface="Calibri"/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4892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178"/>
                </a:solidFill>
                <a:latin typeface="Calibri"/>
              </a:rPr>
              <a:t>Minutes per unit. Splitting helps only where the work is genuinely separable — these assemblies 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5171A"/>
                </a:solidFill>
                <a:latin typeface="Calibri"/>
              </a:rPr>
              <a:t>The principle: </a:t>
            </a:r>
            <a:r>
              <a:rPr sz="1400" b="0">
                <a:solidFill>
                  <a:srgbClr val="1F2326"/>
                </a:solidFill>
                <a:latin typeface="Calibri"/>
              </a:rPr>
              <a:t>a step’s labor doesn’t disappear when you split it — but the time on the clock drops, so it stops gating the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749039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5171A"/>
                </a:solidFill>
                <a:latin typeface="Calibri"/>
              </a:rPr>
              <a:t>Arms (64 → 32)</a:t>
            </a:r>
            <a:r>
              <a:rPr sz="1400" b="0">
                <a:solidFill>
                  <a:srgbClr val="1F2326"/>
                </a:solidFill>
                <a:latin typeface="Calibri"/>
              </a:rPr>
              <a:t> alone takes the worst bottleneck below takt.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43484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326"/>
                </a:solidFill>
                <a:latin typeface="Calibri"/>
              </a:rPr>
              <a:t>Smaller steps (legs, attach, finishing, plate) are grouped to fill the remaining operators evenly.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257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5171A"/>
                </a:solidFill>
                <a:latin typeface="Calibri"/>
              </a:rPr>
              <a:t>Net effect (next slide): </a:t>
            </a:r>
            <a:r>
              <a:rPr sz="1400" b="1">
                <a:solidFill>
                  <a:srgbClr val="4F7A5B"/>
                </a:solidFill>
                <a:latin typeface="Calibri"/>
              </a:rPr>
              <a:t>a level line that hits 10/day.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5171A"/>
                </a:solidFill>
                <a:latin typeface="Times New Roman"/>
              </a:rPr>
              <a:t>TUUCI</a:t>
            </a:r>
          </a:p>
        </p:txBody>
      </p:sp>
      <p:sp>
        <p:nvSpPr>
          <p:cNvPr id="4" name="Arc 3"/>
          <p:cNvSpPr/>
          <p:nvPr/>
        </p:nvSpPr>
        <p:spPr>
          <a:xfrm>
            <a:off x="658368" y="676656"/>
            <a:ext cx="868680" cy="164592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9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178"/>
                </a:solidFill>
                <a:latin typeface="Calibri"/>
              </a:rPr>
              <a:t>Meritage 3-Seater · The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AB0B3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8A6B39"/>
                </a:solidFill>
                <a:latin typeface="Calibri"/>
              </a:rPr>
              <a:t>THE LINE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5171A"/>
                </a:solidFill>
                <a:latin typeface="Calibri"/>
              </a:rPr>
              <a:t>From lumpy to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1542F"/>
                </a:solidFill>
                <a:latin typeface="Calibri"/>
              </a:rPr>
              <a:t>Today — work as it 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A5B"/>
                </a:solidFill>
                <a:latin typeface="Calibri"/>
              </a:rPr>
              <a:t>Proposed — balanced to takt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5148072"/>
            <a:ext cx="5212080" cy="0"/>
          </a:xfrm>
          <a:prstGeom prst="line">
            <a:avLst/>
          </a:prstGeom>
          <a:ln w="12700">
            <a:solidFill>
              <a:srgbClr val="E0D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0106" y="4449161"/>
            <a:ext cx="293771" cy="69891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106" y="4688888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352" y="4211417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19.2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912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3932" y="4857615"/>
            <a:ext cx="293771" cy="290456"/>
          </a:xfrm>
          <a:prstGeom prst="rect">
            <a:avLst/>
          </a:prstGeom>
          <a:solidFill>
            <a:srgbClr val="4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3932" y="4893115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178" y="461987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738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7757" y="2824420"/>
            <a:ext cx="293771" cy="2323651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77757" y="3876518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003" y="25866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1542F"/>
                </a:solidFill>
                <a:latin typeface="Calibri"/>
              </a:rPr>
              <a:t>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4563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51583" y="3441640"/>
            <a:ext cx="293771" cy="1706431"/>
          </a:xfrm>
          <a:prstGeom prst="rect">
            <a:avLst/>
          </a:prstGeom>
          <a:solidFill>
            <a:srgbClr val="3C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51583" y="4185128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9829" y="32038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1542F"/>
                </a:solidFill>
                <a:latin typeface="Calibri"/>
              </a:rPr>
              <a:t>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58389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5408" y="3568714"/>
            <a:ext cx="293771" cy="1579357"/>
          </a:xfrm>
          <a:prstGeom prst="rect">
            <a:avLst/>
          </a:prstGeom>
          <a:solidFill>
            <a:srgbClr val="8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5408" y="4248665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3654" y="333097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1542F"/>
                </a:solidFill>
                <a:latin typeface="Calibri"/>
              </a:rPr>
              <a:t>43.5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2214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99234" y="4494544"/>
            <a:ext cx="293771" cy="653527"/>
          </a:xfrm>
          <a:prstGeom prst="rect">
            <a:avLst/>
          </a:prstGeom>
          <a:solidFill>
            <a:srgbClr val="6B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9234" y="4711580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568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73059" y="4966536"/>
            <a:ext cx="293771" cy="181535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1305" y="47287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79865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46885" y="4857615"/>
            <a:ext cx="293771" cy="290456"/>
          </a:xfrm>
          <a:prstGeom prst="rect">
            <a:avLst/>
          </a:prstGeom>
          <a:solidFill>
            <a:srgbClr val="2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6885" y="4893115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45130" y="461987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3690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20710" y="4331163"/>
            <a:ext cx="293771" cy="816908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0710" y="4629889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8956" y="4093419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22.5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7516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94535" y="4494544"/>
            <a:ext cx="293771" cy="653527"/>
          </a:xfrm>
          <a:prstGeom prst="rect">
            <a:avLst/>
          </a:prstGeom>
          <a:solidFill>
            <a:srgbClr val="9A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94535" y="4711580"/>
            <a:ext cx="2937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2781" y="42568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1341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68361" y="5111764"/>
            <a:ext cx="293771" cy="36307"/>
          </a:xfrm>
          <a:prstGeom prst="rect">
            <a:avLst/>
          </a:prstGeom>
          <a:solidFill>
            <a:srgbClr val="C9A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6607" y="48740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5167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#12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0080" y="3623175"/>
            <a:ext cx="5212080" cy="0"/>
          </a:xfrm>
          <a:prstGeom prst="line">
            <a:avLst/>
          </a:prstGeom>
          <a:ln w="17780">
            <a:solidFill>
              <a:srgbClr val="B1542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663440" y="340371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1542F"/>
                </a:solidFill>
                <a:latin typeface="Calibri"/>
              </a:rPr>
              <a:t>takt 42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355080" y="5148072"/>
            <a:ext cx="5212080" cy="0"/>
          </a:xfrm>
          <a:prstGeom prst="line">
            <a:avLst/>
          </a:prstGeom>
          <a:ln w="12700">
            <a:solidFill>
              <a:srgbClr val="E0D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520129" y="4449161"/>
            <a:ext cx="538581" cy="69891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20129" y="4688888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0129" y="4158704"/>
            <a:ext cx="538581" cy="290456"/>
          </a:xfrm>
          <a:prstGeom prst="rect">
            <a:avLst/>
          </a:prstGeom>
          <a:solidFill>
            <a:srgbClr val="4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20129" y="4194204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0780" y="39209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27.2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49340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S1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88809" y="3986246"/>
            <a:ext cx="538581" cy="1161825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88809" y="4457431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09460" y="374850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32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18020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S2 ×2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57489" y="3659482"/>
            <a:ext cx="538581" cy="1488589"/>
          </a:xfrm>
          <a:prstGeom prst="rect">
            <a:avLst/>
          </a:prstGeom>
          <a:solidFill>
            <a:srgbClr val="3C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57489" y="4294049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78140" y="342173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41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86700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S3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26169" y="4930229"/>
            <a:ext cx="538581" cy="217842"/>
          </a:xfrm>
          <a:prstGeom prst="rect">
            <a:avLst/>
          </a:prstGeom>
          <a:solidFill>
            <a:srgbClr val="3C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26169" y="4929422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26169" y="3713943"/>
            <a:ext cx="538581" cy="1216286"/>
          </a:xfrm>
          <a:prstGeom prst="rect">
            <a:avLst/>
          </a:prstGeom>
          <a:solidFill>
            <a:srgbClr val="8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26169" y="4212358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46820" y="3476199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39.5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55380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S4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94849" y="4785001"/>
            <a:ext cx="538581" cy="363070"/>
          </a:xfrm>
          <a:prstGeom prst="rect">
            <a:avLst/>
          </a:prstGeom>
          <a:solidFill>
            <a:srgbClr val="8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94849" y="4856808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94849" y="4131474"/>
            <a:ext cx="538581" cy="653527"/>
          </a:xfrm>
          <a:prstGeom prst="rect">
            <a:avLst/>
          </a:prstGeom>
          <a:solidFill>
            <a:srgbClr val="6B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94849" y="4348509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94849" y="3949939"/>
            <a:ext cx="538581" cy="181535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994849" y="3659482"/>
            <a:ext cx="538581" cy="290456"/>
          </a:xfrm>
          <a:prstGeom prst="rect">
            <a:avLst/>
          </a:prstGeom>
          <a:solidFill>
            <a:srgbClr val="2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94849" y="3694982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15500" y="342173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41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24060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S5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63529" y="4331163"/>
            <a:ext cx="538581" cy="816908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863529" y="4629889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863529" y="3677636"/>
            <a:ext cx="538581" cy="653527"/>
          </a:xfrm>
          <a:prstGeom prst="rect">
            <a:avLst/>
          </a:prstGeom>
          <a:solidFill>
            <a:srgbClr val="9A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863529" y="3894671"/>
            <a:ext cx="5385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63529" y="3641329"/>
            <a:ext cx="538581" cy="36307"/>
          </a:xfrm>
          <a:prstGeom prst="rect">
            <a:avLst/>
          </a:prstGeom>
          <a:solidFill>
            <a:srgbClr val="C9A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584180" y="3403585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5171A"/>
                </a:solidFill>
                <a:latin typeface="Calibri"/>
              </a:rPr>
              <a:t>41.5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92740" y="5193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3A4148"/>
                </a:solidFill>
                <a:latin typeface="Calibri"/>
              </a:rPr>
              <a:t>S6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355080" y="3623175"/>
            <a:ext cx="5212080" cy="0"/>
          </a:xfrm>
          <a:prstGeom prst="line">
            <a:avLst/>
          </a:prstGeom>
          <a:ln w="17780">
            <a:solidFill>
              <a:srgbClr val="B1542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0378440" y="340371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1542F"/>
                </a:solidFill>
                <a:latin typeface="Calibri"/>
              </a:rPr>
              <a:t>takt 42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0080" y="56235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178"/>
                </a:solidFill>
                <a:latin typeface="Calibri"/>
              </a:rPr>
              <a:t>One operator per step: Arms towers at 64 min → a unit only every 64 min (~6.6/day), and small steps sit idle.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55080" y="56235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178"/>
                </a:solidFill>
                <a:latin typeface="Calibri"/>
              </a:rPr>
              <a:t>7 operators across 6 stations (Arms built 2-up; Seat &amp; Back Frame split). Every station under takt → ~10.1/day, 88% utilized.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5171A"/>
                </a:solidFill>
                <a:latin typeface="Times New Roman"/>
              </a:rPr>
              <a:t>TUUCI</a:t>
            </a:r>
          </a:p>
        </p:txBody>
      </p:sp>
      <p:sp>
        <p:nvSpPr>
          <p:cNvPr id="4" name="Arc 3"/>
          <p:cNvSpPr/>
          <p:nvPr/>
        </p:nvSpPr>
        <p:spPr>
          <a:xfrm>
            <a:off x="658368" y="676656"/>
            <a:ext cx="868680" cy="164592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9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178"/>
                </a:solidFill>
                <a:latin typeface="Calibri"/>
              </a:rPr>
              <a:t>Meritage 3-Seater · How it looks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AB0B3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8A6B39"/>
                </a:solidFill>
                <a:latin typeface="Calibri"/>
              </a:rPr>
              <a:t>HOW IT WOULD ACTUALLY LOOK ON THE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5171A"/>
                </a:solidFill>
                <a:latin typeface="Calibri"/>
              </a:rPr>
              <a:t>7 operators across 6 stations — every station under takt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94560"/>
          <a:ext cx="7955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486400"/>
                <a:gridCol w="914400"/>
              </a:tblGrid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 (SWI steps)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Min/unit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6"/>
                          </a:solidFill>
                          <a:latin typeface="Calibri"/>
                        </a:rPr>
                        <a:t>#2 Connector Prep · #3 Leg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27.3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S2 · 2 builders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6"/>
                          </a:solidFill>
                          <a:latin typeface="Calibri"/>
                        </a:rPr>
                        <a:t>#4 Arms Assembly (built together)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32.0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6"/>
                          </a:solidFill>
                          <a:latin typeface="Calibri"/>
                        </a:rPr>
                        <a:t>#5 Seat Frame Assembly (first part)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41.0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6"/>
                          </a:solidFill>
                          <a:latin typeface="Calibri"/>
                        </a:rPr>
                        <a:t>#5 Seat Frame (rest) · #6 Back Frame (first part)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39.5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6"/>
                          </a:solidFill>
                          <a:latin typeface="Calibri"/>
                        </a:rPr>
                        <a:t>#6 Back Frame (rest) · #7 Attaching Arms · #8 Back Support · #9 Leg Finishing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41.0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6"/>
                          </a:solidFill>
                          <a:latin typeface="Calibri"/>
                        </a:rPr>
                        <a:t>#10 Seat Support · #11 Attaching Seat Frame · #12 TUUCI 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5171A"/>
                          </a:solidFill>
                          <a:latin typeface="Calibri"/>
                        </a:rPr>
                        <a:t>41.5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69680" y="2194560"/>
            <a:ext cx="269748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0" y="2194560"/>
            <a:ext cx="2697480" cy="54864"/>
          </a:xfrm>
          <a:prstGeom prst="rect">
            <a:avLst/>
          </a:prstGeom>
          <a:solidFill>
            <a:srgbClr val="4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234086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171A"/>
                </a:solidFill>
                <a:latin typeface="Calibri"/>
              </a:rPr>
              <a:t>10.1</a:t>
            </a:r>
            <a:r>
              <a:rPr sz="1200" b="1">
                <a:solidFill>
                  <a:srgbClr val="6B7178"/>
                </a:solidFill>
                <a:latin typeface="Calibri"/>
              </a:rPr>
              <a:t> 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5984" y="28346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4F53"/>
                </a:solidFill>
                <a:latin typeface="Calibri"/>
              </a:rPr>
              <a:t>capacity vs. 10/day demand — met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401568"/>
            <a:ext cx="269748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3401568"/>
            <a:ext cx="2697480" cy="54864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3547872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171A"/>
                </a:solidFill>
                <a:latin typeface="Calibri"/>
              </a:rPr>
              <a:t>41.5</a:t>
            </a:r>
            <a:r>
              <a:rPr sz="1200" b="1">
                <a:solidFill>
                  <a:srgbClr val="6B7178"/>
                </a:solidFill>
                <a:latin typeface="Calibri"/>
              </a:rPr>
              <a:t>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0416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4F53"/>
                </a:solidFill>
                <a:latin typeface="Calibri"/>
              </a:rPr>
              <a:t>slowest station (S6) — under takt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608576"/>
            <a:ext cx="269748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4608576"/>
            <a:ext cx="2697480" cy="54864"/>
          </a:xfrm>
          <a:prstGeom prst="rect">
            <a:avLst/>
          </a:prstGeom>
          <a:solidFill>
            <a:srgbClr val="4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171A"/>
                </a:solidFill>
                <a:latin typeface="Calibri"/>
              </a:rPr>
              <a:t>88</a:t>
            </a:r>
            <a:r>
              <a:rPr sz="1200" b="1">
                <a:solidFill>
                  <a:srgbClr val="6B7178"/>
                </a:solidFill>
                <a:latin typeface="Calibri"/>
              </a:rPr>
              <a:t>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52486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4F53"/>
                </a:solidFill>
                <a:latin typeface="Calibri"/>
              </a:rPr>
              <a:t>line efficiency (very little idle)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178"/>
                </a:solidFill>
                <a:latin typeface="Calibri"/>
              </a:rPr>
              <a:t>S2 is two builders working Arms together (64 → 32 min). Seat Frame (#5) and Back Frame (#6) are each split across two stations to level the load. Times measured from the SWI.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5171A"/>
                </a:solidFill>
                <a:latin typeface="Times New Roman"/>
              </a:rPr>
              <a:t>TUUCI</a:t>
            </a:r>
          </a:p>
        </p:txBody>
      </p:sp>
      <p:sp>
        <p:nvSpPr>
          <p:cNvPr id="4" name="Arc 3"/>
          <p:cNvSpPr/>
          <p:nvPr/>
        </p:nvSpPr>
        <p:spPr>
          <a:xfrm>
            <a:off x="658368" y="676656"/>
            <a:ext cx="868680" cy="164592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9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178"/>
                </a:solidFill>
                <a:latin typeface="Calibri"/>
              </a:rPr>
              <a:t>Meritage 3-Seater ·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AB0B3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8A6B39"/>
                </a:solidFill>
                <a:latin typeface="Calibri"/>
              </a:rPr>
              <a:t>WHAT THIS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5171A"/>
                </a:solidFill>
                <a:latin typeface="Calibri"/>
              </a:rPr>
              <a:t>Same product, leveled to demand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350008"/>
            <a:ext cx="109728" cy="109728"/>
          </a:xfrm>
          <a:prstGeom prst="ellipse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5171A"/>
                </a:solidFill>
                <a:latin typeface="Calibri"/>
              </a:rPr>
              <a:t>254 min of labor</a:t>
            </a:r>
            <a:r>
              <a:rPr sz="1450" b="0">
                <a:solidFill>
                  <a:srgbClr val="1F2326"/>
                </a:solidFill>
                <a:latin typeface="Calibri"/>
              </a:rPr>
              <a:t>, with 61% in three assemblies — Arms (#4), Seat Frame (#5), Back Frame (#6).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218688"/>
            <a:ext cx="109728" cy="109728"/>
          </a:xfrm>
          <a:prstGeom prst="ellipse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089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5171A"/>
                </a:solidFill>
                <a:latin typeface="Calibri"/>
              </a:rPr>
              <a:t>Those three each run longer than takt</a:t>
            </a:r>
            <a:r>
              <a:rPr sz="1450" b="0">
                <a:solidFill>
                  <a:srgbClr val="1F2326"/>
                </a:solidFill>
                <a:latin typeface="Calibri"/>
              </a:rPr>
              <a:t>, so they’re the constraint.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087368"/>
            <a:ext cx="109728" cy="109728"/>
          </a:xfrm>
          <a:prstGeom prst="ellipse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5171A"/>
                </a:solidFill>
                <a:latin typeface="Calibri"/>
              </a:rPr>
              <a:t>Build Arms 2-up, split Seat &amp; Back Frame, group the rest</a:t>
            </a:r>
            <a:r>
              <a:rPr sz="1450" b="0">
                <a:solidFill>
                  <a:srgbClr val="1F2326"/>
                </a:solidFill>
                <a:latin typeface="Calibri"/>
              </a:rPr>
              <a:t> → 7 operators across 6 stations, every station ≤ 41.5 min.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56048"/>
            <a:ext cx="109728" cy="109728"/>
          </a:xfrm>
          <a:prstGeom prst="ellipse">
            <a:avLst/>
          </a:prstGeom>
          <a:solidFill>
            <a:srgbClr val="A88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463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5171A"/>
                </a:solidFill>
                <a:latin typeface="Calibri"/>
              </a:rPr>
              <a:t>Result: ~10.1 units/day at 88% efficiency</a:t>
            </a:r>
            <a:r>
              <a:rPr sz="1450" b="0">
                <a:solidFill>
                  <a:srgbClr val="1F2326"/>
                </a:solidFill>
                <a:latin typeface="Calibri"/>
              </a:rPr>
              <a:t>, meeting the 10/day demand.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40280"/>
            <a:ext cx="5120640" cy="1554480"/>
          </a:xfrm>
          <a:prstGeom prst="roundRect">
            <a:avLst/>
          </a:prstGeom>
          <a:solidFill>
            <a:srgbClr val="FFF7EC"/>
          </a:solidFill>
          <a:ln w="9525">
            <a:solidFill>
              <a:srgbClr val="F0D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64008" cy="1554480"/>
          </a:xfrm>
          <a:prstGeom prst="rect">
            <a:avLst/>
          </a:prstGeom>
          <a:solidFill>
            <a:srgbClr val="B1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395728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5171A"/>
                </a:solidFill>
                <a:latin typeface="Calibri"/>
              </a:rPr>
              <a:t>Assumptions &amp; caveats.  </a:t>
            </a:r>
            <a:r>
              <a:rPr sz="1300" b="0">
                <a:solidFill>
                  <a:srgbClr val="3A2F20"/>
                </a:solidFill>
                <a:latin typeface="Calibri"/>
              </a:rPr>
              <a:t>Demand 10/day over a 7-hour day → 42-min takt. Times are measured from the SWI. Splitting helps only where a task is genuinely separable; sequence-locked work won’t overlap — to confirm on the floor.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77639"/>
            <a:ext cx="5120640" cy="1371600"/>
          </a:xfrm>
          <a:prstGeom prst="roundRect">
            <a:avLst/>
          </a:prstGeom>
          <a:solidFill>
            <a:srgbClr val="EEF3EE"/>
          </a:solidFill>
          <a:ln w="9525">
            <a:solidFill>
              <a:srgbClr val="CF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977639"/>
            <a:ext cx="64008" cy="1371600"/>
          </a:xfrm>
          <a:prstGeom prst="rect">
            <a:avLst/>
          </a:prstGeom>
          <a:solidFill>
            <a:srgbClr val="4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133087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5171A"/>
                </a:solidFill>
                <a:latin typeface="Calibri"/>
              </a:rPr>
              <a:t>Next step.  </a:t>
            </a:r>
            <a:r>
              <a:rPr sz="1300" b="0">
                <a:solidFill>
                  <a:srgbClr val="23402C"/>
                </a:solidFill>
                <a:latin typeface="Calibri"/>
              </a:rPr>
              <a:t>Validate the three split assemblies on the floor, then trial the 6-station layout. The analyzer re-balances live as real times firm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