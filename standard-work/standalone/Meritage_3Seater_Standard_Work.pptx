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09" r:id="rId2"/>
    <p:sldId id="311" r:id="rId3"/>
    <p:sldId id="317" r:id="rId4"/>
    <p:sldId id="318" r:id="rId5"/>
    <p:sldId id="312" r:id="rId6"/>
    <p:sldId id="313" r:id="rId7"/>
    <p:sldId id="319" r:id="rId16"/>
    <p:sldId id="314" r:id="rId8"/>
    <p:sldId id="315" r:id="rId9"/>
    <p:sldId id="31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1370FB-FD35-519B-7AE8-7E236CBF5376}" v="81" dt="2026-06-18T20:33:53.0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Relationship Id="rId16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84016-FA22-CE01-304D-2051236199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3BCAAE-BB82-2C0F-CEE9-B7B100A8A1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60C4B-5C56-E230-E8A7-624861562E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E40D-2C1B-63E7-C711-E7F27B383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A1557C-ECD5-70A9-8826-AA6161319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047913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FE8D6-6C57-5E89-D11A-856FC81EF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D2A28A-8A97-B097-FC80-D94EFCDC5F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87E99-B1ED-FBED-7DB9-5AECD140A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4A557-8CAE-8991-D049-C5A8107E1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3D8FE1-7D73-1D5D-C37F-5FA3ACFF9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812788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3F98E-86E8-B4CA-C67A-359898FE9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5B846D-6E2D-9D67-F14C-87243D40C4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276273-861A-E991-DA43-00636DA51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09DDB5-189D-A384-CEA4-3BD2BA825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8C518A-B614-37FC-863E-A4843941C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841970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093D3-A21F-3795-4566-5D351DE4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9D4A3D-A546-27E1-8030-5E5511CB42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FF968B-DFC4-9A85-900E-43FB3F9C60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9DB4C4-FFB1-07A9-CC89-B02CB5677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A97C89-85E6-6316-0BDC-4542B390D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7B84AB-19EB-70CE-A097-DAECFE1CC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262882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3E112-ADBA-3517-FF11-868BC8EE4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D7EAD4-974A-76BC-3163-529340851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3D12D6-2A4E-2FD0-FE8E-9B7DEF31B8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886737-7439-0832-B8ED-E20F470F60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978ECE-7188-355B-35B3-7321354A54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E8C464-8094-ECAE-B5A4-29E14DCDE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3F2A86-75F6-0AB6-9F38-10FC77142A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94D414-08FD-7A10-5ECA-49D369161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483548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35675-F986-CBE3-604B-5772B38F1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E4B1F-5FD6-E9E1-D355-03B0C70BA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6E80BB-035C-49B4-670B-7F35BBD78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644A98-853F-3FC3-47AB-34ADFDEDE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448814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1F3853-2C7E-32B2-25F7-26F0BDBC4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DA63404-5708-0A7C-B9FD-6E85D4291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F9AC7D-1B1D-4979-1D96-B699949EB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705697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1E7D2-F4EF-147F-BF14-01F89B936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D0032-67E7-C3C0-2F14-1098602801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C597C6-C86C-2893-AC12-844B7E5270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471BFA-7825-8949-5978-F1F68F401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848390-9B2D-A30F-F51F-2D3F471F1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84EBED-9A4F-9CF4-A4C5-2F3C6FEE5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297727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25C2F-B0FD-9959-27A1-CAE27EC66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7D0B4-4F5E-CD30-FCD7-8214E91048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A3101F-51CD-DCE5-690D-8BF194456E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B76A0D-E8AC-0D78-A202-723D55CF9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B6365-7D40-6630-6E49-57D1C1D2C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745A28-922C-3C00-C508-291CAF2D8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707985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DE358-9C7B-26CE-682E-3BA95C7A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C503E2-3892-EDDE-7692-920532DE28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1756F8-345C-F069-CFEF-B1FA2F286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CE8159-4FC3-745A-F5B5-B30036FE6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4ACE29-4AA2-1D1B-F876-B5D4F6EA9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506553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9AD697-4A2D-6986-9B85-3538281EFB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738171-43D9-2FA8-2567-8F439B8E8B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5D6014-B110-DDC7-38C3-E9A373E40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49DF84-D769-00FC-F6C6-1B1476E7C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9AD371-131F-DDDE-958C-B6758209A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445011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Rectangle"/>
          <p:cNvSpPr/>
          <p:nvPr/>
        </p:nvSpPr>
        <p:spPr>
          <a:xfrm>
            <a:off x="-6350" y="-12700"/>
            <a:ext cx="12204700" cy="6883400"/>
          </a:xfrm>
          <a:prstGeom prst="rect">
            <a:avLst/>
          </a:prstGeom>
          <a:solidFill>
            <a:srgbClr val="737476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l" defTabSz="207716">
              <a:lnSpc>
                <a:spcPct val="120000"/>
              </a:lnSpc>
              <a:spcBef>
                <a:spcPts val="0"/>
              </a:spcBef>
              <a:defRPr sz="2800" spc="-56">
                <a:solidFill>
                  <a:srgbClr val="FFFFFF"/>
                </a:solidFill>
                <a:latin typeface="Canela Deck Bold"/>
                <a:ea typeface="Canela Deck Bold"/>
                <a:cs typeface="Canela Deck Bold"/>
                <a:sym typeface="Canela Deck Bold"/>
              </a:defRPr>
            </a:pPr>
            <a:endParaRPr sz="1400"/>
          </a:p>
        </p:txBody>
      </p:sp>
      <p:sp>
        <p:nvSpPr>
          <p:cNvPr id="405" name="Rectangle"/>
          <p:cNvSpPr/>
          <p:nvPr userDrawn="1"/>
        </p:nvSpPr>
        <p:spPr>
          <a:xfrm>
            <a:off x="327660" y="290830"/>
            <a:ext cx="11536680" cy="627634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207716">
              <a:lnSpc>
                <a:spcPct val="120000"/>
              </a:lnSpc>
              <a:spcBef>
                <a:spcPts val="0"/>
              </a:spcBef>
              <a:defRPr sz="3000" spc="-59">
                <a:solidFill>
                  <a:schemeClr val="accent5">
                    <a:hueOff val="-246905"/>
                    <a:satOff val="-77181"/>
                    <a:lumOff val="20457"/>
                  </a:schemeClr>
                </a:solidFill>
                <a:latin typeface="Canela Deck Bold"/>
                <a:ea typeface="Canela Deck Bold"/>
                <a:cs typeface="Canela Deck Bold"/>
                <a:sym typeface="Canela Deck Bold"/>
              </a:defRPr>
            </a:pPr>
            <a:endParaRPr sz="1500"/>
          </a:p>
        </p:txBody>
      </p:sp>
      <p:sp>
        <p:nvSpPr>
          <p:cNvPr id="407" name="Content Title"/>
          <p:cNvSpPr txBox="1">
            <a:spLocks noGrp="1"/>
          </p:cNvSpPr>
          <p:nvPr>
            <p:ph type="title" hasCustomPrompt="1"/>
          </p:nvPr>
        </p:nvSpPr>
        <p:spPr>
          <a:xfrm>
            <a:off x="1028700" y="457265"/>
            <a:ext cx="10134600" cy="909701"/>
          </a:xfrm>
          <a:prstGeom prst="rect">
            <a:avLst/>
          </a:prstGeom>
        </p:spPr>
        <p:txBody>
          <a:bodyPr anchor="ctr"/>
          <a:lstStyle>
            <a:lvl1pPr algn="l">
              <a:defRPr sz="4000" b="1">
                <a:solidFill>
                  <a:srgbClr val="737476"/>
                </a:solidFill>
                <a:latin typeface="+mj-lt"/>
              </a:defRPr>
            </a:lvl1pPr>
          </a:lstStyle>
          <a:p>
            <a:r>
              <a:rPr dirty="0"/>
              <a:t>Content Title</a:t>
            </a:r>
          </a:p>
        </p:txBody>
      </p:sp>
      <p:sp>
        <p:nvSpPr>
          <p:cNvPr id="41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3" name="Body Level One…">
            <a:extLst>
              <a:ext uri="{FF2B5EF4-FFF2-40B4-BE49-F238E27FC236}">
                <a16:creationId xmlns:a16="http://schemas.microsoft.com/office/drawing/2014/main" id="{30CDAFA4-4CF5-7267-C176-CA9BC1FBF075}"/>
              </a:ext>
            </a:extLst>
          </p:cNvPr>
          <p:cNvSpPr txBox="1">
            <a:spLocks noGrp="1"/>
          </p:cNvSpPr>
          <p:nvPr>
            <p:ph type="body" idx="1" hasCustomPrompt="1"/>
          </p:nvPr>
        </p:nvSpPr>
        <p:spPr>
          <a:xfrm>
            <a:off x="1028019" y="1844041"/>
            <a:ext cx="10135963" cy="3956502"/>
          </a:xfrm>
          <a:prstGeom prst="rect">
            <a:avLst/>
          </a:prstGeom>
        </p:spPr>
        <p:txBody>
          <a:bodyPr anchor="t"/>
          <a:lstStyle>
            <a:lvl1pPr marL="222250" indent="-222250" algn="l" defTabSz="1219169">
              <a:lnSpc>
                <a:spcPct val="100000"/>
              </a:lnSpc>
              <a:spcBef>
                <a:spcPts val="2100"/>
              </a:spcBef>
              <a:buSzPct val="100000"/>
              <a:buChar char="•"/>
              <a:defRPr sz="20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1pPr>
            <a:lvl2pPr marL="444500" indent="-222250" algn="l" defTabSz="1219169">
              <a:lnSpc>
                <a:spcPct val="100000"/>
              </a:lnSpc>
              <a:spcBef>
                <a:spcPts val="2100"/>
              </a:spcBef>
              <a:buSzPct val="100000"/>
              <a:buChar char="•"/>
              <a:defRPr sz="18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2pPr>
            <a:lvl3pPr marL="815975" indent="-371475" algn="l" defTabSz="1219169">
              <a:lnSpc>
                <a:spcPct val="100000"/>
              </a:lnSpc>
              <a:spcBef>
                <a:spcPts val="2100"/>
              </a:spcBef>
              <a:buSzPct val="100000"/>
              <a:buFont typeface="Arial" panose="020B0604020202020204" pitchFamily="34" charset="0"/>
              <a:buChar char="•"/>
              <a:defRPr sz="16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3pPr>
            <a:lvl4pPr marL="889000" indent="-222250" algn="l" defTabSz="1219169">
              <a:lnSpc>
                <a:spcPct val="80000"/>
              </a:lnSpc>
              <a:spcBef>
                <a:spcPts val="2100"/>
              </a:spcBef>
              <a:buSzPct val="100000"/>
              <a:buChar char="•"/>
              <a:defRPr sz="14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4pPr>
            <a:lvl5pPr marL="1111250" indent="-222250" algn="l" defTabSz="1219169">
              <a:lnSpc>
                <a:spcPct val="80000"/>
              </a:lnSpc>
              <a:spcBef>
                <a:spcPts val="2100"/>
              </a:spcBef>
              <a:buSzPct val="100000"/>
              <a:buChar char="•"/>
              <a:defRPr sz="20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5pPr>
          </a:lstStyle>
          <a:p>
            <a:pPr lvl="0"/>
            <a:r>
              <a:rPr lang="en-US" dirty="0"/>
              <a:t>Main 1</a:t>
            </a:r>
          </a:p>
          <a:p>
            <a:pPr lvl="0"/>
            <a:r>
              <a:rPr lang="en-US" dirty="0"/>
              <a:t>Main 2</a:t>
            </a:r>
          </a:p>
          <a:p>
            <a:pPr lvl="1"/>
            <a:r>
              <a:rPr lang="en-US" dirty="0"/>
              <a:t>Sub 1 </a:t>
            </a:r>
          </a:p>
          <a:p>
            <a:pPr lvl="1"/>
            <a:r>
              <a:rPr lang="en-US" dirty="0"/>
              <a:t>Sub 2</a:t>
            </a:r>
          </a:p>
          <a:p>
            <a:pPr lvl="2"/>
            <a:r>
              <a:rPr lang="en-US" dirty="0"/>
              <a:t>Sub 2a</a:t>
            </a:r>
          </a:p>
          <a:p>
            <a:pPr lvl="2"/>
            <a:r>
              <a:rPr lang="en-US" dirty="0"/>
              <a:t>Sub 2b</a:t>
            </a:r>
          </a:p>
          <a:p>
            <a:pPr lvl="3"/>
            <a:r>
              <a:rPr lang="en-US" dirty="0"/>
              <a:t>Sub 2bi</a:t>
            </a:r>
            <a:endParaRPr dirty="0"/>
          </a:p>
          <a:p>
            <a:pPr lvl="2"/>
            <a:endParaRPr dirty="0"/>
          </a:p>
          <a:p>
            <a:pPr lvl="3"/>
            <a:endParaRPr dirty="0"/>
          </a:p>
          <a:p>
            <a:pPr lvl="4"/>
            <a:endParaRPr dirty="0"/>
          </a:p>
        </p:txBody>
      </p:sp>
      <p:pic>
        <p:nvPicPr>
          <p:cNvPr id="4" name="Picture 3" descr="A picture containing silhouette, plant&#10;&#10;Description automatically generated">
            <a:extLst>
              <a:ext uri="{FF2B5EF4-FFF2-40B4-BE49-F238E27FC236}">
                <a16:creationId xmlns:a16="http://schemas.microsoft.com/office/drawing/2014/main" id="{6A47F707-7F7A-44F1-E09F-E04DC1C563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993502" y="6104072"/>
            <a:ext cx="1649987" cy="402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506881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v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"/>
          <p:cNvSpPr/>
          <p:nvPr/>
        </p:nvSpPr>
        <p:spPr>
          <a:xfrm>
            <a:off x="-6350" y="-12700"/>
            <a:ext cx="12204700" cy="6883400"/>
          </a:xfrm>
          <a:prstGeom prst="rect">
            <a:avLst/>
          </a:prstGeom>
          <a:solidFill>
            <a:srgbClr val="737476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l" defTabSz="207716">
              <a:lnSpc>
                <a:spcPct val="120000"/>
              </a:lnSpc>
              <a:spcBef>
                <a:spcPts val="0"/>
              </a:spcBef>
              <a:defRPr sz="2800" spc="-56">
                <a:solidFill>
                  <a:srgbClr val="FFFFFF"/>
                </a:solidFill>
                <a:latin typeface="Canela Deck Bold"/>
                <a:ea typeface="Canela Deck Bold"/>
                <a:cs typeface="Canela Deck Bold"/>
                <a:sym typeface="Canela Deck Bold"/>
              </a:defRPr>
            </a:pPr>
            <a:endParaRPr sz="1400"/>
          </a:p>
        </p:txBody>
      </p:sp>
      <p:pic>
        <p:nvPicPr>
          <p:cNvPr id="85" name="Image" descr="Image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30648" y="3106005"/>
            <a:ext cx="3949909" cy="645991"/>
          </a:xfrm>
          <a:prstGeom prst="rect">
            <a:avLst/>
          </a:prstGeom>
          <a:ln w="12700">
            <a:miter lim="400000"/>
          </a:ln>
        </p:spPr>
      </p:pic>
      <p:sp>
        <p:nvSpPr>
          <p:cNvPr id="8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45446284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98BBD4-2A27-8653-4250-BB052B395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7645A3-F900-023C-0932-F612D4843B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3EE3A-86E7-9D84-B7DB-F8FE93D638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11A4C2-6A03-78A6-9DF6-02F8AE102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1D04D0-6DF8-65BA-0D8D-76201F53B6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970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ransition spd="med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958C759-B4D3-1D90-C69F-F9AF52F8E206}"/>
              </a:ext>
            </a:extLst>
          </p:cNvPr>
          <p:cNvSpPr txBox="1"/>
          <p:nvPr/>
        </p:nvSpPr>
        <p:spPr>
          <a:xfrm>
            <a:off x="742135" y="1232483"/>
            <a:ext cx="4866185" cy="293109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ctr">
            <a:spAutoFit/>
          </a:bodyPr>
          <a:lstStyle/>
          <a:p>
            <a:pPr defTabSz="177800" hangingPunct="0">
              <a:lnSpc>
                <a:spcPct val="90000"/>
              </a:lnSpc>
              <a:spcBef>
                <a:spcPts val="600"/>
              </a:spcBef>
            </a:pPr>
            <a:r>
              <a:rPr lang="en-US" sz="3600" b="1" dirty="0">
                <a:solidFill>
                  <a:schemeClr val="bg1"/>
                </a:solidFill>
                <a:latin typeface="+mj-lt"/>
                <a:ea typeface="Proxima Nova Medium"/>
                <a:cs typeface="Proxima Nova Medium"/>
                <a:sym typeface="Proxima Nova Medium"/>
              </a:rPr>
              <a:t>Standard Works: </a:t>
            </a:r>
          </a:p>
          <a:p>
            <a:pPr marL="571500" indent="-571500" defTabSz="177800" hangingPunct="0">
              <a:lnSpc>
                <a:spcPct val="90000"/>
              </a:lnSpc>
              <a:spcBef>
                <a:spcPts val="600"/>
              </a:spcBef>
              <a:buFontTx/>
              <a:buChar char="-"/>
            </a:pPr>
            <a:r>
              <a:rPr lang="en-US" sz="3600" dirty="0">
                <a:solidFill>
                  <a:schemeClr val="bg1"/>
                </a:solidFill>
                <a:latin typeface="+mj-lt"/>
                <a:ea typeface="Proxima Nova Medium"/>
                <a:cs typeface="Proxima Nova Medium"/>
                <a:sym typeface="Proxima Nova Medium"/>
              </a:rPr>
              <a:t>Swivel Chair </a:t>
            </a:r>
          </a:p>
          <a:p>
            <a:pPr marL="571500" indent="-571500" defTabSz="177800" hangingPunct="0">
              <a:lnSpc>
                <a:spcPct val="90000"/>
              </a:lnSpc>
              <a:spcBef>
                <a:spcPts val="600"/>
              </a:spcBef>
              <a:buFontTx/>
              <a:buChar char="-"/>
            </a:pPr>
            <a:r>
              <a:rPr lang="en-US" sz="3600" dirty="0">
                <a:solidFill>
                  <a:schemeClr val="bg1"/>
                </a:solidFill>
                <a:latin typeface="+mj-lt"/>
                <a:ea typeface="Proxima Nova Medium"/>
                <a:cs typeface="Proxima Nova Medium"/>
                <a:sym typeface="Proxima Nova Medium"/>
              </a:rPr>
              <a:t>Meritage 3 seater </a:t>
            </a:r>
          </a:p>
          <a:p>
            <a:pPr marL="571500" indent="-571500" defTabSz="177800" hangingPunct="0">
              <a:lnSpc>
                <a:spcPct val="90000"/>
              </a:lnSpc>
              <a:spcBef>
                <a:spcPts val="600"/>
              </a:spcBef>
              <a:buFontTx/>
              <a:buChar char="-"/>
            </a:pPr>
            <a:r>
              <a:rPr lang="en-US" sz="3600" dirty="0">
                <a:solidFill>
                  <a:schemeClr val="bg1"/>
                </a:solidFill>
                <a:latin typeface="+mj-lt"/>
                <a:ea typeface="Proxima Nova Medium"/>
                <a:cs typeface="Proxima Nova Medium"/>
                <a:sym typeface="Proxima Nova Medium"/>
              </a:rPr>
              <a:t>Sola Sofa </a:t>
            </a:r>
          </a:p>
          <a:p>
            <a:pPr defTabSz="177800" hangingPunct="0">
              <a:lnSpc>
                <a:spcPct val="90000"/>
              </a:lnSpc>
              <a:spcBef>
                <a:spcPts val="600"/>
              </a:spcBef>
            </a:pPr>
            <a:endParaRPr lang="en-US" sz="3600" b="1" dirty="0">
              <a:solidFill>
                <a:schemeClr val="bg1"/>
              </a:solidFill>
              <a:latin typeface="+mj-lt"/>
              <a:ea typeface="Proxima Nova Medium"/>
              <a:cs typeface="Proxima Nova Medium"/>
              <a:sym typeface="Proxima Nova Medium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64F3D6-6317-85ED-5F90-EDE4B30CCE7A}"/>
              </a:ext>
            </a:extLst>
          </p:cNvPr>
          <p:cNvSpPr txBox="1"/>
          <p:nvPr/>
        </p:nvSpPr>
        <p:spPr>
          <a:xfrm>
            <a:off x="951685" y="4135878"/>
            <a:ext cx="3163115" cy="75405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ctr">
            <a:spAutoFit/>
          </a:bodyPr>
          <a:lstStyle/>
          <a:p>
            <a:pPr defTabSz="177800" hangingPunct="0">
              <a:lnSpc>
                <a:spcPct val="90000"/>
              </a:lnSpc>
              <a:spcBef>
                <a:spcPts val="600"/>
              </a:spcBef>
            </a:pPr>
            <a:r>
              <a:rPr lang="en-US" sz="2000" b="1" dirty="0">
                <a:solidFill>
                  <a:schemeClr val="bg1"/>
                </a:solidFill>
                <a:latin typeface="+mj-lt"/>
              </a:rPr>
              <a:t>Douglas O'Keefe</a:t>
            </a:r>
            <a:endParaRPr lang="en-US" sz="2000" b="1" dirty="0">
              <a:solidFill>
                <a:schemeClr val="bg1"/>
              </a:solidFill>
              <a:latin typeface="+mj-lt"/>
              <a:ea typeface="Proxima Nova Medium"/>
              <a:cs typeface="Proxima Nova Medium"/>
            </a:endParaRPr>
          </a:p>
          <a:p>
            <a:pPr defTabSz="177800" hangingPunct="0">
              <a:lnSpc>
                <a:spcPct val="90000"/>
              </a:lnSpc>
              <a:spcBef>
                <a:spcPts val="600"/>
              </a:spcBef>
            </a:pPr>
            <a:r>
              <a:rPr lang="en-US" sz="2000" b="1" dirty="0">
                <a:solidFill>
                  <a:schemeClr val="bg1"/>
                </a:solidFill>
                <a:latin typeface="+mj-lt"/>
              </a:rPr>
              <a:t>06/18/2026</a:t>
            </a:r>
            <a:endParaRPr lang="en-US" sz="2000" b="1" dirty="0">
              <a:solidFill>
                <a:schemeClr val="bg1"/>
              </a:solidFill>
              <a:latin typeface="+mj-lt"/>
              <a:ea typeface="Proxima Nova Medium"/>
              <a:cs typeface="Proxima Nova Medium"/>
            </a:endParaRPr>
          </a:p>
        </p:txBody>
      </p:sp>
    </p:spTree>
    <p:extLst>
      <p:ext uri="{BB962C8B-B14F-4D97-AF65-F5344CB8AC3E}">
        <p14:creationId xmlns:p14="http://schemas.microsoft.com/office/powerpoint/2010/main" val="1061378831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BA2AF-CBBA-1D8D-1D92-E25637041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7310" y="602606"/>
            <a:ext cx="1897380" cy="909701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620CB3-3005-424E-C8D0-64E65EEF95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Understand Sola process and labor time </a:t>
            </a:r>
          </a:p>
          <a:p>
            <a:r>
              <a:rPr lang="en-US" dirty="0"/>
              <a:t>Review current state standard work procedures</a:t>
            </a:r>
          </a:p>
          <a:p>
            <a:pPr lvl="1"/>
            <a:r>
              <a:rPr lang="en-US" dirty="0"/>
              <a:t>Cycle Time</a:t>
            </a:r>
          </a:p>
          <a:p>
            <a:pPr lvl="1"/>
            <a:r>
              <a:rPr lang="en-US" dirty="0"/>
              <a:t>Theoretical Output</a:t>
            </a:r>
          </a:p>
          <a:p>
            <a:pPr lvl="1"/>
            <a:r>
              <a:rPr lang="en-US" dirty="0"/>
              <a:t>Order of Operations</a:t>
            </a:r>
          </a:p>
          <a:p>
            <a:r>
              <a:rPr lang="en-US" dirty="0"/>
              <a:t>Operator Loading Chart by Task</a:t>
            </a:r>
          </a:p>
          <a:p>
            <a:r>
              <a:rPr lang="en-US" dirty="0"/>
              <a:t>Potential Improvements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2058811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8B300-BDBE-47D4-013A-987882CC7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Takeaways: </a:t>
            </a:r>
            <a:r>
              <a:rPr lang="en-US" dirty="0">
                <a:solidFill>
                  <a:schemeClr val="accent6"/>
                </a:solidFill>
              </a:rPr>
              <a:t>Swivel</a:t>
            </a:r>
            <a:r>
              <a:rPr lang="en-US" dirty="0"/>
              <a:t> 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E3A6C9-BA4D-F7CB-CE71-8BC1D68070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Swivel Chair assembly labor time: 204 min  (+ 23 min packing for shipping = 227 min total)</a:t>
            </a:r>
            <a:endParaRPr lang="en-US"/>
          </a:p>
          <a:p>
            <a:pPr/>
            <a:r>
              <a:t>Packing for shipping: 23 min (~10% of labor) — box &amp; pallet build (9.3 min) + cushion, PE-foam &amp; nylon wrap (13.6 min)</a:t>
            </a:r>
          </a:p>
          <a:p>
            <a:pPr lvl="1"/>
            <a:r>
              <a:t>Packing is now captured for Meritage too; only the Sola total is still assembly-only</a:t>
            </a:r>
          </a:p>
          <a:p>
            <a:pPr/>
            <a:r>
              <a:t>Bottleneck: Backrest &amp; Arms Frame (Step 4) = 90 min — 40% of the build (~50 min is connector/bar attachment)</a:t>
            </a:r>
          </a:p>
          <a:p>
            <a:pPr lvl="1"/>
            <a:r>
              <a:t>At 90 min it is over 2x takt — must be split across at least 2 operators, 3 recommended</a:t>
            </a:r>
          </a:p>
          <a:p>
            <a:pPr/>
            <a:r>
              <a:t>Takt time required (demand of 10 units): 42 min</a:t>
            </a:r>
          </a:p>
        </p:txBody>
      </p:sp>
    </p:spTree>
    <p:extLst>
      <p:ext uri="{BB962C8B-B14F-4D97-AF65-F5344CB8AC3E}">
        <p14:creationId xmlns:p14="http://schemas.microsoft.com/office/powerpoint/2010/main" val="666012139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82F00-181D-F13D-022E-23C836AC6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D20E9-A6DB-B49B-BD5E-9388E836E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Improvements: </a:t>
            </a:r>
            <a:r>
              <a:rPr lang="en-US" dirty="0">
                <a:solidFill>
                  <a:schemeClr val="accent6"/>
                </a:solidFill>
              </a:rPr>
              <a:t>Swivel</a:t>
            </a:r>
            <a:r>
              <a:rPr lang="en-US" dirty="0"/>
              <a:t> 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BCA0E3-EAF9-76B8-E6DE-C9FDBC23E6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Split the Backrest &amp; Arms Frame assembly (Step 4, 90 min — 42% of the build); ~50 min is connector/bar attachment that can likely run in parallel — the single biggest lever</a:t>
            </a:r>
            <a:endParaRPr lang="en-US" dirty="0"/>
          </a:p>
          <a:p>
            <a:pPr/>
            <a:r>
              <a:t>Connectors delivered correct &amp; pre-drilled (Step 1: 16 connectors are screw-swapped &amp; reoriented, ~11 min) — same supplier fix as Meritage/Sola</a:t>
            </a:r>
          </a:p>
          <a:p>
            <a:pPr/>
            <a:r>
              <a:t>Eliminate paint-on-threads rework (Step 6 flags drilling paint off threads as waste) — fix threading at paint so no cleanup on the line</a:t>
            </a:r>
          </a:p>
          <a:p>
            <a:pPr/>
            <a:r>
              <a:t>Point-of-use storage &amp; standardized tooling staged at each station</a:t>
            </a:r>
          </a:p>
          <a:p>
            <a:pPr/>
            <a:r>
              <a:t>Pre-assemble base / swivel-plate components upstream where possible</a:t>
            </a:r>
          </a:p>
          <a:p>
            <a:pPr/>
            <a:r>
              <a:t>Clearer quality standards to reduce wait time between assembly and packing</a:t>
            </a:r>
          </a:p>
        </p:txBody>
      </p:sp>
    </p:spTree>
    <p:extLst>
      <p:ext uri="{BB962C8B-B14F-4D97-AF65-F5344CB8AC3E}">
        <p14:creationId xmlns:p14="http://schemas.microsoft.com/office/powerpoint/2010/main" val="670356622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A8A62-D0C7-6EBB-2F3B-10D179820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95650" y="487745"/>
            <a:ext cx="5600700" cy="909701"/>
          </a:xfrm>
        </p:spPr>
        <p:txBody>
          <a:bodyPr/>
          <a:lstStyle/>
          <a:p>
            <a:r>
              <a:rPr lang="en-US" dirty="0"/>
              <a:t>Key Takeaways: </a:t>
            </a:r>
            <a:r>
              <a:rPr lang="en-US" dirty="0">
                <a:solidFill>
                  <a:schemeClr val="accent1"/>
                </a:solidFill>
              </a:rPr>
              <a:t>Meritage</a:t>
            </a:r>
            <a:r>
              <a:rPr lang="en-US" dirty="0"/>
              <a:t>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73628-9B98-D01A-F206-8718B5EC1E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Meritage 3-Seater Sofa assembly labor time: 254 min  (+ 18 min packing for shipping = 272 min total)</a:t>
            </a:r>
          </a:p>
          <a:p>
            <a:pPr/>
            <a:r>
              <a:t>Packing for shipping: 18 min (~7% of labor) — box bottom (9 min) + middle section (3 min) + top section &amp; strapping (6 min)</a:t>
            </a:r>
          </a:p>
          <a:p>
            <a:pPr/>
            <a:r>
              <a:t>Theoretical output based on cycle time (41.5 min), assuming parts are available from paint.</a:t>
            </a:r>
          </a:p>
          <a:p>
            <a:pPr lvl="1"/>
            <a:r>
              <a:t>~10 units per day (7 operators)</a:t>
            </a:r>
          </a:p>
          <a:p>
            <a:pPr lvl="1"/>
            <a:r>
              <a:t>Takt time required (demand of 10 units): 42 min</a:t>
            </a:r>
          </a:p>
        </p:txBody>
      </p:sp>
    </p:spTree>
    <p:extLst>
      <p:ext uri="{BB962C8B-B14F-4D97-AF65-F5344CB8AC3E}">
        <p14:creationId xmlns:p14="http://schemas.microsoft.com/office/powerpoint/2010/main" val="3967448658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4F6A0-47EF-52F0-F471-A3C9F254EF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29215" y="803276"/>
            <a:ext cx="4933569" cy="909701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Improvements: </a:t>
            </a:r>
            <a:r>
              <a:rPr lang="en-US" dirty="0">
                <a:solidFill>
                  <a:schemeClr val="accent1"/>
                </a:solidFill>
              </a:rPr>
              <a:t>Meritage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309034-701E-75E5-9BB2-7BA8BB756C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Assign different connector types part numbers. Currently, the 3 different types </a:t>
            </a:r>
            <a:r>
              <a:rPr lang="en-US"/>
              <a:t>of Meritage </a:t>
            </a:r>
            <a:r>
              <a:rPr lang="en-US" dirty="0"/>
              <a:t>connectors arrive the same way, and under 1 part #. </a:t>
            </a:r>
            <a:endParaRPr lang="en-US" b="1" dirty="0"/>
          </a:p>
          <a:p>
            <a:r>
              <a:rPr dirty="0"/>
              <a:t>Eliminate connector screw swaps &amp; reorientation</a:t>
            </a:r>
            <a:r>
              <a:rPr lang="en-US" dirty="0"/>
              <a:t>: </a:t>
            </a:r>
            <a:r>
              <a:rPr dirty="0"/>
              <a:t>recovers ~</a:t>
            </a:r>
            <a:r>
              <a:rPr lang="en-US" dirty="0"/>
              <a:t>1</a:t>
            </a:r>
            <a:r>
              <a:rPr dirty="0"/>
              <a:t>1:40 of labor per unit to redeploy elsewhere</a:t>
            </a:r>
            <a:endParaRPr lang="en-US" dirty="0"/>
          </a:p>
          <a:p>
            <a:r>
              <a:rPr dirty="0"/>
              <a:t>Pre-drill connector holes for screw entry</a:t>
            </a:r>
            <a:r>
              <a:rPr lang="en-US" dirty="0"/>
              <a:t>: </a:t>
            </a:r>
            <a:r>
              <a:rPr dirty="0"/>
              <a:t>saves </a:t>
            </a:r>
            <a:r>
              <a:rPr lang="en-US" dirty="0"/>
              <a:t> at least 6</a:t>
            </a:r>
            <a:r>
              <a:rPr dirty="0"/>
              <a:t> min per frame assembly (seat-frame assembly is a top bottleneck)</a:t>
            </a:r>
          </a:p>
          <a:p>
            <a:r>
              <a:rPr dirty="0"/>
              <a:t>Connectors pre-drilled 100% for leg pieces, and pre-drill mini-connectors where possible</a:t>
            </a:r>
            <a:r>
              <a:rPr lang="en-US" dirty="0"/>
              <a:t>:</a:t>
            </a:r>
            <a:r>
              <a:rPr dirty="0"/>
              <a:t> improves every Meritage</a:t>
            </a:r>
          </a:p>
          <a:p>
            <a:r>
              <a:rPr dirty="0"/>
              <a:t>Receive leg pieces pre-assembled from manufacturing</a:t>
            </a:r>
            <a:r>
              <a:rPr lang="en-US" dirty="0"/>
              <a:t>: </a:t>
            </a:r>
            <a:r>
              <a:rPr dirty="0"/>
              <a:t>~90% are built identically, so move that work upstream</a:t>
            </a:r>
          </a:p>
        </p:txBody>
      </p:sp>
    </p:spTree>
    <p:extLst>
      <p:ext uri="{BB962C8B-B14F-4D97-AF65-F5344CB8AC3E}">
        <p14:creationId xmlns:p14="http://schemas.microsoft.com/office/powerpoint/2010/main" val="1834426848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First Step to Pre-Assembly: Fix the Connector BOM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" y="1371600"/>
            <a:ext cx="10149840" cy="114300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62626"/>
                </a:solidFill>
                <a:latin typeface="Calibri"/>
              </a:rPr>
              <a:t>The first step to getting connectors pre-assembled in Vietnam: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give each connector its own part number in the BOM.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262626"/>
                </a:solidFill>
                <a:latin typeface="Calibri"/>
              </a:rPr>
              <a:t>Today all three connectors arrive from Vietnam as </a:t>
            </a:r>
            <a:r>
              <a:rPr sz="1400" b="1" i="0">
                <a:solidFill>
                  <a:srgbClr val="843C0C"/>
                </a:solidFill>
                <a:latin typeface="Calibri"/>
              </a:rPr>
              <a:t>one generic type</a:t>
            </a:r>
            <a:r>
              <a:rPr sz="1400" b="0" i="0">
                <a:solidFill>
                  <a:srgbClr val="262626"/>
                </a:solidFill>
                <a:latin typeface="Calibri"/>
              </a:rPr>
              <a:t>, then get swapped and reconfigured by hand on the line.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262626"/>
                </a:solidFill>
                <a:latin typeface="Calibri"/>
              </a:rPr>
              <a:t>The BOM lists </a:t>
            </a:r>
            <a:r>
              <a:rPr sz="1400" b="1" i="0">
                <a:solidFill>
                  <a:srgbClr val="843C0C"/>
                </a:solidFill>
                <a:latin typeface="Calibri"/>
              </a:rPr>
              <a:t>2 connector types — but there are really 3</a:t>
            </a:r>
            <a:r>
              <a:rPr sz="1400" b="0" i="0">
                <a:solidFill>
                  <a:srgbClr val="262626"/>
                </a:solidFill>
                <a:latin typeface="Calibri"/>
              </a:rPr>
              <a:t>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24128" y="2697480"/>
          <a:ext cx="859536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017520"/>
                <a:gridCol w="2194560"/>
                <a:gridCol w="914400"/>
              </a:tblGrid>
              <a:tr h="33147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Location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Configuration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 number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Qty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Front of frame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Type 1 (same both sides)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1015301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Back – left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Left configuration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1015302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Back – right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Right configuration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1016592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024128" y="4160520"/>
            <a:ext cx="10149840" cy="1234440"/>
          </a:xfrm>
          <a:prstGeom prst="rect">
            <a:avLst/>
          </a:prstGeom>
          <a:solidFill>
            <a:srgbClr val="FBF3E0"/>
          </a:solidFill>
          <a:ln w="9525">
            <a:solidFill>
              <a:srgbClr val="E6C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4128" y="4160520"/>
            <a:ext cx="73152" cy="123444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297680"/>
            <a:ext cx="9692640" cy="100584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F3864"/>
                </a:solidFill>
                <a:latin typeface="Calibri"/>
              </a:rPr>
              <a:t>The gap.  </a:t>
            </a:r>
            <a:r>
              <a:rPr sz="1350" b="0" i="0">
                <a:solidFill>
                  <a:srgbClr val="262626"/>
                </a:solidFill>
                <a:latin typeface="Calibri"/>
              </a:rPr>
              <a:t>Drawings already show all three correctly — 1015301 (×2) front, 1015302 + 1016592 back — but the BOM does not.</a:t>
            </a:r>
          </a:p>
          <a:p>
            <a:pPr algn="l">
              <a:lnSpc>
                <a:spcPct val="105000"/>
              </a:lnSpc>
              <a:spcBef>
                <a:spcPts val="500"/>
              </a:spcBef>
            </a:pPr>
            <a:r>
              <a:rPr sz="1350" b="1" i="0">
                <a:solidFill>
                  <a:srgbClr val="1F3864"/>
                </a:solidFill>
                <a:latin typeface="Calibri"/>
              </a:rPr>
              <a:t>The fix.  </a:t>
            </a:r>
            <a:r>
              <a:rPr sz="1350" b="1" i="0">
                <a:solidFill>
                  <a:srgbClr val="23402C"/>
                </a:solidFill>
                <a:latin typeface="Calibri"/>
              </a:rPr>
              <a:t>Give each its own part number so it is ordered separately — then every connector arrives from Vietnam already assembled for its specific use (front / back-left / back-right), with no hand reconfiguring on the 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5532120"/>
            <a:ext cx="10149840" cy="73152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1">
                <a:solidFill>
                  <a:srgbClr val="595959"/>
                </a:solidFill>
                <a:latin typeface="Calibri"/>
              </a:rPr>
              <a:t>Note: </a:t>
            </a:r>
            <a:r>
              <a:rPr sz="1200" b="0" i="1">
                <a:solidFill>
                  <a:srgbClr val="595959"/>
                </a:solidFill>
                <a:latin typeface="Calibri"/>
              </a:rPr>
              <a:t>the Marquesa also uses a specific connector that should be coming pre-assembled — different from the three types covered here.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A8A62-D0C7-6EBB-2F3B-10D179820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610" y="602606"/>
            <a:ext cx="4716780" cy="909701"/>
          </a:xfrm>
        </p:spPr>
        <p:txBody>
          <a:bodyPr>
            <a:normAutofit fontScale="90000"/>
          </a:bodyPr>
          <a:lstStyle/>
          <a:p>
            <a:r>
              <a:rPr lang="en-US" dirty="0"/>
              <a:t>Key Takeaways - </a:t>
            </a:r>
            <a:r>
              <a:rPr lang="en-US" dirty="0">
                <a:solidFill>
                  <a:srgbClr val="FF0000"/>
                </a:solidFill>
              </a:rPr>
              <a:t>Sola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73628-9B98-D01A-F206-8718B5EC1E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Sola Lounge (No-Arm)</a:t>
            </a:r>
            <a:r>
              <a:rPr lang="en-US"/>
              <a:t> Sofa assembly labor time: 124 min</a:t>
            </a:r>
          </a:p>
          <a:p>
            <a:r>
              <a:rPr lang="en-US" dirty="0"/>
              <a:t>Theoretical output based on cycle time (36.8 min), assuming parts are available from paint.</a:t>
            </a:r>
          </a:p>
          <a:p>
            <a:pPr lvl="1"/>
            <a:r>
              <a:rPr lang="en-US" dirty="0"/>
              <a:t>~11 units per day (4 operators)</a:t>
            </a:r>
          </a:p>
          <a:p>
            <a:pPr lvl="1"/>
            <a:r>
              <a:rPr lang="en-US" dirty="0"/>
              <a:t>Takt time required (demand of 10 units): 42 min</a:t>
            </a:r>
          </a:p>
        </p:txBody>
      </p:sp>
    </p:spTree>
    <p:extLst>
      <p:ext uri="{BB962C8B-B14F-4D97-AF65-F5344CB8AC3E}">
        <p14:creationId xmlns:p14="http://schemas.microsoft.com/office/powerpoint/2010/main" val="433969288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38515" y="411506"/>
            <a:ext cx="10134600" cy="909701"/>
          </a:xfrm>
        </p:spPr>
        <p:txBody>
          <a:bodyPr/>
          <a:lstStyle/>
          <a:p>
            <a:r>
              <a:rPr dirty="0"/>
              <a:t>Operator Loading Chart by Task</a:t>
            </a:r>
            <a:r>
              <a:rPr lang="en-US" dirty="0"/>
              <a:t> – </a:t>
            </a:r>
            <a:r>
              <a:rPr lang="en-US" dirty="0">
                <a:solidFill>
                  <a:srgbClr val="FF0000"/>
                </a:solidFill>
              </a:rPr>
              <a:t>Sola</a:t>
            </a:r>
            <a:endParaRPr dirty="0">
              <a:solidFill>
                <a:srgbClr val="FF0000"/>
              </a:solidFill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1435608" y="5349240"/>
            <a:ext cx="6446519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78408" y="5248655"/>
            <a:ext cx="4114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0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35608" y="4457700"/>
            <a:ext cx="6446519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78408" y="4357116"/>
            <a:ext cx="4114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12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35608" y="3566160"/>
            <a:ext cx="6446519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78408" y="3465576"/>
            <a:ext cx="4114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24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35608" y="2674620"/>
            <a:ext cx="6446519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78408" y="2574036"/>
            <a:ext cx="4114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36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35608" y="1783080"/>
            <a:ext cx="6446519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78408" y="1682496"/>
            <a:ext cx="4114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48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38515" y="4717732"/>
            <a:ext cx="805815" cy="631507"/>
          </a:xfrm>
          <a:prstGeom prst="rect">
            <a:avLst/>
          </a:prstGeom>
          <a:solidFill>
            <a:srgbClr val="4472C4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838515" y="4923758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38515" y="3851452"/>
            <a:ext cx="805815" cy="866279"/>
          </a:xfrm>
          <a:prstGeom prst="rect">
            <a:avLst/>
          </a:prstGeom>
          <a:solidFill>
            <a:srgbClr val="70AD47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838515" y="4174864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38515" y="2885617"/>
            <a:ext cx="805815" cy="965834"/>
          </a:xfrm>
          <a:prstGeom prst="rect">
            <a:avLst/>
          </a:prstGeom>
          <a:solidFill>
            <a:srgbClr val="1F3864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838515" y="3258807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38515" y="2613698"/>
            <a:ext cx="805815" cy="271919"/>
          </a:xfrm>
          <a:prstGeom prst="rect">
            <a:avLst/>
          </a:prstGeom>
          <a:solidFill>
            <a:srgbClr val="5B9BD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838515" y="2639929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64195" y="2375954"/>
            <a:ext cx="135445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1F3864"/>
                </a:solidFill>
                <a:latin typeface="Calibri"/>
              </a:rPr>
              <a:t>36.8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64195" y="5404103"/>
            <a:ext cx="135445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S1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50145" y="4086225"/>
            <a:ext cx="805815" cy="1263014"/>
          </a:xfrm>
          <a:prstGeom prst="rect">
            <a:avLst/>
          </a:prstGeom>
          <a:solidFill>
            <a:srgbClr val="ED7D3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50145" y="4608004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50145" y="2786062"/>
            <a:ext cx="805815" cy="1300162"/>
          </a:xfrm>
          <a:prstGeom prst="rect">
            <a:avLst/>
          </a:prstGeom>
          <a:solidFill>
            <a:srgbClr val="A5A5A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450145" y="3326415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75825" y="2548318"/>
            <a:ext cx="135445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1F3864"/>
                </a:solidFill>
                <a:latin typeface="Calibri"/>
              </a:rPr>
              <a:t>34.5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75825" y="5404103"/>
            <a:ext cx="135445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S2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61775" y="2897505"/>
            <a:ext cx="805815" cy="2451734"/>
          </a:xfrm>
          <a:prstGeom prst="rect">
            <a:avLst/>
          </a:prstGeom>
          <a:solidFill>
            <a:srgbClr val="843C0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61775" y="4013644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87455" y="2659761"/>
            <a:ext cx="135445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1F3864"/>
                </a:solidFill>
                <a:latin typeface="Calibri"/>
              </a:rPr>
              <a:t>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87455" y="5404103"/>
            <a:ext cx="135445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S3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3405" y="4352944"/>
            <a:ext cx="805815" cy="996295"/>
          </a:xfrm>
          <a:prstGeom prst="rect">
            <a:avLst/>
          </a:prstGeom>
          <a:solidFill>
            <a:srgbClr val="54823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73405" y="4741364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3405" y="3858139"/>
            <a:ext cx="805815" cy="494804"/>
          </a:xfrm>
          <a:prstGeom prst="rect">
            <a:avLst/>
          </a:prstGeom>
          <a:solidFill>
            <a:srgbClr val="843C0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73405" y="3995813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99085" y="3620395"/>
            <a:ext cx="135445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1F3864"/>
                </a:solidFill>
                <a:latin typeface="Calibri"/>
              </a:rPr>
              <a:t>20.1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99085" y="5404103"/>
            <a:ext cx="135445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S4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35608" y="2228850"/>
            <a:ext cx="6446519" cy="0"/>
          </a:xfrm>
          <a:prstGeom prst="line">
            <a:avLst/>
          </a:prstGeom>
          <a:ln w="19050">
            <a:solidFill>
              <a:srgbClr val="C0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601967" y="2009393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>
                <a:solidFill>
                  <a:srgbClr val="C00000"/>
                </a:solidFill>
                <a:latin typeface="Calibri"/>
              </a:rPr>
              <a:t>Takt 42 min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1463039"/>
            <a:ext cx="31089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404040"/>
                </a:solidFill>
                <a:latin typeface="Calibri"/>
              </a:rPr>
              <a:t>Tasks (SWI step #)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0" y="1755648"/>
            <a:ext cx="146304" cy="146304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467344" y="171907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#2  </a:t>
            </a:r>
            <a:r>
              <a:rPr sz="950" b="0">
                <a:solidFill>
                  <a:srgbClr val="404040"/>
                </a:solidFill>
                <a:latin typeface="Calibri"/>
              </a:rPr>
              <a:t>Rivet Nut Installation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0" y="2103120"/>
            <a:ext cx="146304" cy="146304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467344" y="2066543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#3  </a:t>
            </a:r>
            <a:r>
              <a:rPr sz="950" b="0">
                <a:solidFill>
                  <a:srgbClr val="404040"/>
                </a:solidFill>
                <a:latin typeface="Calibri"/>
              </a:rPr>
              <a:t>Connector Pre-Assembly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29600" y="2450592"/>
            <a:ext cx="146304" cy="1463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467344" y="241401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#4  </a:t>
            </a:r>
            <a:r>
              <a:rPr sz="950" b="0">
                <a:solidFill>
                  <a:srgbClr val="404040"/>
                </a:solidFill>
                <a:latin typeface="Calibri"/>
              </a:rPr>
              <a:t>Connector Plate Installation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29600" y="2798064"/>
            <a:ext cx="146304" cy="14630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467344" y="2761488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#5  </a:t>
            </a:r>
            <a:r>
              <a:rPr sz="950" b="0">
                <a:solidFill>
                  <a:srgbClr val="404040"/>
                </a:solidFill>
                <a:latin typeface="Calibri"/>
              </a:rPr>
              <a:t>Connector Attachment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29600" y="3145536"/>
            <a:ext cx="146304" cy="146304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467344" y="310896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#6  </a:t>
            </a:r>
            <a:r>
              <a:rPr sz="950" b="0">
                <a:solidFill>
                  <a:srgbClr val="404040"/>
                </a:solidFill>
                <a:latin typeface="Calibri"/>
              </a:rPr>
              <a:t>Frame Sub-Assembly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29600" y="3493008"/>
            <a:ext cx="146304" cy="146304"/>
          </a:xfrm>
          <a:prstGeom prst="rect">
            <a:avLst/>
          </a:prstGeom>
          <a:solidFill>
            <a:srgbClr val="A5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467344" y="345643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#7  </a:t>
            </a:r>
            <a:r>
              <a:rPr sz="950" b="0">
                <a:solidFill>
                  <a:srgbClr val="404040"/>
                </a:solidFill>
                <a:latin typeface="Calibri"/>
              </a:rPr>
              <a:t>Frame Connection Assembly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29600" y="3840479"/>
            <a:ext cx="146304" cy="146304"/>
          </a:xfrm>
          <a:prstGeom prst="rect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467344" y="38039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#8  </a:t>
            </a:r>
            <a:r>
              <a:rPr sz="950" b="0">
                <a:solidFill>
                  <a:srgbClr val="404040"/>
                </a:solidFill>
                <a:latin typeface="Calibri"/>
              </a:rPr>
              <a:t>Seat Support Frame Assembly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0" y="4187952"/>
            <a:ext cx="146304" cy="14630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467344" y="415137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#9  </a:t>
            </a:r>
            <a:r>
              <a:rPr sz="950" b="0">
                <a:solidFill>
                  <a:srgbClr val="404040"/>
                </a:solidFill>
                <a:latin typeface="Calibri"/>
              </a:rPr>
              <a:t>Trellis Frame Installation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229600" y="4535423"/>
            <a:ext cx="146304" cy="146304"/>
          </a:xfrm>
          <a:prstGeom prst="rect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467344" y="4498848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#10  </a:t>
            </a:r>
            <a:r>
              <a:rPr sz="950" b="0">
                <a:solidFill>
                  <a:srgbClr val="404040"/>
                </a:solidFill>
                <a:latin typeface="Calibri"/>
              </a:rPr>
              <a:t>Corner Cap &amp; End Cap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4128" y="5806440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404040"/>
                </a:solidFill>
                <a:latin typeface="Calibri"/>
              </a:rPr>
              <a:t>Takt 42 min   ·   Cycle time 36.8 min   ·   Capacity ~11 units/day   ·   84% line efficiency   ·   Seat Support (#8, 33 min) is the bottleneck — splitting it 2-up unlocks more output.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4F6A0-47EF-52F0-F471-A3C9F254E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Improvements – </a:t>
            </a:r>
            <a:r>
              <a:rPr lang="en-US" dirty="0">
                <a:solidFill>
                  <a:srgbClr val="FF0000"/>
                </a:solidFill>
              </a:rPr>
              <a:t>Sola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309034-701E-75E5-9BB2-7BA8BB756C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27337" y="1366966"/>
            <a:ext cx="10135963" cy="4348034"/>
          </a:xfrm>
        </p:spPr>
        <p:txBody>
          <a:bodyPr>
            <a:normAutofit fontScale="92500" lnSpcReduction="10000"/>
          </a:bodyPr>
          <a:lstStyle/>
          <a:p>
            <a:r>
              <a:rPr dirty="0"/>
              <a:t>Balance the line to takt: 4-station layout, every station under the 42-min takt (~11 units/day at ~84% efficiency)</a:t>
            </a:r>
          </a:p>
          <a:p>
            <a:r>
              <a:rPr dirty="0"/>
              <a:t>Split the Seat Support / trellis assembly (#8, 33 min) the bottleneck; multiple slats make it parallelizable, so 2 builders unlock more output</a:t>
            </a:r>
          </a:p>
          <a:p>
            <a:r>
              <a:rPr dirty="0"/>
              <a:t>Connectors delivered correct &amp; pre-drilled (Connector Pre-Assembly + Plate + Attachment ≈ 28 min </a:t>
            </a:r>
            <a:r>
              <a:t>combined) </a:t>
            </a:r>
            <a:r>
              <a:rPr dirty="0"/>
              <a:t>cut prep and drilling time</a:t>
            </a:r>
          </a:p>
          <a:p>
            <a:r>
              <a:rPr dirty="0"/>
              <a:t>Rivet nuts pre-installed by the supplier where possible (Rivet Nut Installation, #2)</a:t>
            </a:r>
          </a:p>
          <a:p>
            <a:r>
              <a:rPr dirty="0"/>
              <a:t>Point-of-use storage / kit parts per unit to cut walking and fetching</a:t>
            </a:r>
          </a:p>
          <a:p>
            <a:r>
              <a:rPr dirty="0"/>
              <a:t>Standardize cordless tools &amp; batteries and stage a tool set at each station</a:t>
            </a:r>
          </a:p>
          <a:p>
            <a:r>
              <a:rPr dirty="0"/>
              <a:t>Clearer quality standards to reduce wait time between assembly and packing approval</a:t>
            </a:r>
          </a:p>
        </p:txBody>
      </p:sp>
    </p:spTree>
    <p:extLst>
      <p:ext uri="{BB962C8B-B14F-4D97-AF65-F5344CB8AC3E}">
        <p14:creationId xmlns:p14="http://schemas.microsoft.com/office/powerpoint/2010/main" val="1215293112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445</TotalTime>
  <Words>511</Words>
  <Application>Microsoft Office PowerPoint</Application>
  <PresentationFormat>Widescreen</PresentationFormat>
  <Paragraphs>75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Office Theme</vt:lpstr>
      <vt:lpstr>PowerPoint Presentation</vt:lpstr>
      <vt:lpstr>Agenda</vt:lpstr>
      <vt:lpstr>Key Takeaways: Swivel  </vt:lpstr>
      <vt:lpstr>Improvements: Swivel  </vt:lpstr>
      <vt:lpstr>Key Takeaways: Meritage </vt:lpstr>
      <vt:lpstr>Improvements: Meritage  </vt:lpstr>
      <vt:lpstr>Key Takeaways - Sola</vt:lpstr>
      <vt:lpstr>Operator Loading Chart by Task – Sola</vt:lpstr>
      <vt:lpstr>Improvements – Sola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Anthony Costa</dc:creator>
  <cp:lastModifiedBy>Mac O'Keefe</cp:lastModifiedBy>
  <cp:revision>16</cp:revision>
  <dcterms:created xsi:type="dcterms:W3CDTF">2026-06-17T19:39:29Z</dcterms:created>
  <dcterms:modified xsi:type="dcterms:W3CDTF">2026-06-22T15:58:43Z</dcterms:modified>
</cp:coreProperties>
</file>