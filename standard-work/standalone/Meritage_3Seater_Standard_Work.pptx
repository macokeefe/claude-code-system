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1" r:id="rId3"/>
    <p:sldId id="317" r:id="rId4"/>
    <p:sldId id="318" r:id="rId5"/>
    <p:sldId id="312" r:id="rId6"/>
    <p:sldId id="313" r:id="rId7"/>
    <p:sldId id="319" r:id="rId16"/>
    <p:sldId id="314" r:id="rId8"/>
    <p:sldId id="315" r:id="rId9"/>
    <p:sldId id="31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370FB-FD35-519B-7AE8-7E236CBF5376}" v="81" dt="2026-06-18T20:33:53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ransition spd="med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742135" y="1232483"/>
            <a:ext cx="4866185" cy="29310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3600" b="1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Standard Works: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Swivel Chair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Meritage 3 seater </a:t>
            </a:r>
          </a:p>
          <a:p>
            <a:pPr marL="571500" indent="-571500" defTabSz="177800" hangingPunct="0">
              <a:lnSpc>
                <a:spcPct val="90000"/>
              </a:lnSpc>
              <a:spcBef>
                <a:spcPts val="600"/>
              </a:spcBef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Sola Sofa </a:t>
            </a: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endParaRPr lang="en-US" sz="36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  <a:sym typeface="Proxima Nova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951685" y="4135878"/>
            <a:ext cx="3163115" cy="7540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Douglas O'Keefe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2000" b="1" dirty="0">
                <a:solidFill>
                  <a:schemeClr val="bg1"/>
                </a:solidFill>
                <a:latin typeface="+mj-lt"/>
              </a:rPr>
              <a:t>06/18/2026</a:t>
            </a:r>
            <a:endParaRPr lang="en-US" sz="20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A2AF-CBBA-1D8D-1D92-E25637041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7310" y="602606"/>
            <a:ext cx="1897380" cy="909701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20CB3-3005-424E-C8D0-64E65EEF9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 Sola process and labor time </a:t>
            </a:r>
          </a:p>
          <a:p>
            <a:r>
              <a:rPr lang="en-US" dirty="0"/>
              <a:t>Review current state standard work procedures</a:t>
            </a:r>
          </a:p>
          <a:p>
            <a:pPr lvl="1"/>
            <a:r>
              <a:rPr lang="en-US" dirty="0"/>
              <a:t>Cycle Time</a:t>
            </a:r>
          </a:p>
          <a:p>
            <a:pPr lvl="1"/>
            <a:r>
              <a:rPr lang="en-US" dirty="0"/>
              <a:t>Theoretical Output</a:t>
            </a:r>
          </a:p>
          <a:p>
            <a:pPr lvl="1"/>
            <a:r>
              <a:rPr lang="en-US" dirty="0"/>
              <a:t>Order of Operations</a:t>
            </a:r>
          </a:p>
          <a:p>
            <a:r>
              <a:rPr lang="en-US" dirty="0"/>
              <a:t>Operator Loading Chart by Task</a:t>
            </a:r>
          </a:p>
          <a:p>
            <a:r>
              <a:rPr lang="en-US" dirty="0"/>
              <a:t>Potential Improvements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5881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8B300-BDBE-47D4-013A-987882CC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3A6C9-BA4D-F7CB-CE71-8BC1D6807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Swivel Chair assembly labor time: 204 min  (+ 11.5 min packing for shipping = 215.5 min total)</a:t>
            </a:r>
            <a:endParaRPr lang="en-US"/>
          </a:p>
          <a:p>
            <a:pPr/>
            <a:r>
              <a:t>Packing for shipping: 11.5 min (~5% of labor) — box &amp; pallet build + cushion, PE-foam and nylon wrap</a:t>
            </a:r>
          </a:p>
          <a:p>
            <a:pPr lvl="1"/>
            <a:r>
              <a:t>Not included in the Meritage or Sola totals (those are assembly-only) — compare to 204 min assembly for apples-to-apples</a:t>
            </a:r>
          </a:p>
          <a:p>
            <a:pPr/>
            <a:r>
              <a:t>Bottleneck: Backrest &amp; Arms Frame (Step 4) = 90 min — 42% of the build (~50 min is connector/bar attachment)</a:t>
            </a:r>
          </a:p>
          <a:p>
            <a:pPr lvl="1"/>
            <a:r>
              <a:t>As-is this 90-min step caps output at ~4–5 chairs/day; splitting it is the key unlock</a:t>
            </a:r>
          </a:p>
          <a:p>
            <a:pPr/>
            <a:r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66601213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2F00-181D-F13D-022E-23C836AC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20E9-A6DB-B49B-BD5E-9388E836E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6"/>
                </a:solidFill>
              </a:rPr>
              <a:t>Swivel</a:t>
            </a:r>
            <a:r>
              <a:rPr lang="en-US" dirty="0"/>
              <a:t>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BCA0E3-EAF9-76B8-E6DE-C9FDBC23E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Split the Backrest &amp; Arms Frame assembly (Step 4, 90 min — 42% of the build); ~50 min is connector/bar attachment that can likely run in parallel — the single biggest lever</a:t>
            </a:r>
            <a:endParaRPr lang="en-US" dirty="0"/>
          </a:p>
          <a:p>
            <a:pPr/>
            <a:r>
              <a:t>Connectors delivered correct &amp; pre-drilled (Step 1: 16 connectors are screw-swapped &amp; reoriented, ~11 min) — same supplier fix as Meritage/Sola</a:t>
            </a:r>
          </a:p>
          <a:p>
            <a:pPr/>
            <a:r>
              <a:t>Eliminate paint-on-threads rework (Step 6 flags drilling paint off threads as waste) — fix threading at paint so no cleanup on the line</a:t>
            </a:r>
          </a:p>
          <a:p>
            <a:pPr/>
            <a:r>
              <a:t>Point-of-use storage &amp; standardized tooling staged at each station</a:t>
            </a:r>
          </a:p>
          <a:p>
            <a:pPr/>
            <a:r>
              <a:t>Pre-assemble base / swivel-plate components upstream where possible</a:t>
            </a:r>
          </a:p>
          <a:p>
            <a:pPr/>
            <a:r>
              <a:t>Clearer quality standards to reduce wait time between assembly and packing</a:t>
            </a:r>
          </a:p>
        </p:txBody>
      </p:sp>
    </p:spTree>
    <p:extLst>
      <p:ext uri="{BB962C8B-B14F-4D97-AF65-F5344CB8AC3E}">
        <p14:creationId xmlns:p14="http://schemas.microsoft.com/office/powerpoint/2010/main" val="67035662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5650" y="487745"/>
            <a:ext cx="5600700" cy="909701"/>
          </a:xfrm>
        </p:spPr>
        <p:txBody>
          <a:bodyPr/>
          <a:lstStyle/>
          <a:p>
            <a:r>
              <a:rPr lang="en-US" dirty="0"/>
              <a:t>Key Takeaways: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Meritage 3-seater Sofa assembly labor time: 254 min </a:t>
            </a:r>
          </a:p>
          <a:p>
            <a:r>
              <a:rPr lang="en-US" dirty="0"/>
              <a:t>Theoretical output based on cycle time (41.5 min), assuming parts are available from paint.</a:t>
            </a:r>
          </a:p>
          <a:p>
            <a:pPr lvl="1"/>
            <a:r>
              <a:rPr lang="en-US" dirty="0"/>
              <a:t>~10 units per day (7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396744865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215" y="803276"/>
            <a:ext cx="4933569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Assign different connector types part numbers. Currently, the 3 different types </a:t>
            </a:r>
            <a:r>
              <a:rPr lang="en-US"/>
              <a:t>of Meritage </a:t>
            </a:r>
            <a:r>
              <a:rPr lang="en-US" dirty="0"/>
              <a:t>connectors arrive the same way, and under 1 part #. </a:t>
            </a:r>
            <a:endParaRPr lang="en-US" b="1" dirty="0"/>
          </a:p>
          <a:p>
            <a:r>
              <a:rPr dirty="0"/>
              <a:t>Eliminate connector screw swaps &amp; reorientation</a:t>
            </a:r>
            <a:r>
              <a:rPr lang="en-US" dirty="0"/>
              <a:t>: </a:t>
            </a:r>
            <a:r>
              <a:rPr dirty="0"/>
              <a:t>recovers ~</a:t>
            </a:r>
            <a:r>
              <a:rPr lang="en-US" dirty="0"/>
              <a:t>1</a:t>
            </a:r>
            <a:r>
              <a:rPr dirty="0"/>
              <a:t>1:40 of labor per unit to redeploy elsewhere</a:t>
            </a:r>
            <a:endParaRPr lang="en-US" dirty="0"/>
          </a:p>
          <a:p>
            <a:r>
              <a:rPr dirty="0"/>
              <a:t>Pre-drill connector holes for screw entry</a:t>
            </a:r>
            <a:r>
              <a:rPr lang="en-US" dirty="0"/>
              <a:t>: </a:t>
            </a:r>
            <a:r>
              <a:rPr dirty="0"/>
              <a:t>saves </a:t>
            </a:r>
            <a:r>
              <a:rPr lang="en-US" dirty="0"/>
              <a:t> at least 6</a:t>
            </a:r>
            <a:r>
              <a:rPr dirty="0"/>
              <a:t> min per frame assembly (seat-frame assembly is a top bottleneck)</a:t>
            </a:r>
          </a:p>
          <a:p>
            <a:r>
              <a:rPr dirty="0"/>
              <a:t>Connectors pre-drilled 100% for leg pieces, and pre-drill mini-connectors where possible</a:t>
            </a:r>
            <a:r>
              <a:rPr lang="en-US" dirty="0"/>
              <a:t>:</a:t>
            </a:r>
            <a:r>
              <a:rPr dirty="0"/>
              <a:t> improves every Meritage</a:t>
            </a:r>
          </a:p>
          <a:p>
            <a:r>
              <a:rPr dirty="0"/>
              <a:t>Receive leg pieces pre-assembled from manufacturing</a:t>
            </a:r>
            <a:r>
              <a:rPr lang="en-US" dirty="0"/>
              <a:t>: </a:t>
            </a:r>
            <a:r>
              <a:rPr dirty="0"/>
              <a:t>~90% are built identically, so move that work upstream</a:t>
            </a:r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Step to Pre-Assembly: Fix the Connector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1371600"/>
            <a:ext cx="10149840" cy="11430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62626"/>
                </a:solidFill>
                <a:latin typeface="Calibri"/>
              </a:rPr>
              <a:t>The first step to getting connectors pre-assembled in Vietnam: </a:t>
            </a:r>
            <a:r>
              <a:rPr sz="1500" b="0" i="0">
                <a:solidFill>
                  <a:srgbClr val="262626"/>
                </a:solidFill>
                <a:latin typeface="Calibri"/>
              </a:rPr>
              <a:t>give each connector its own part number in the BOM.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Today all three connectors arrive from Vietnam as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one generic type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, then get swapped and reconfigured by hand on the line.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The BOM lists </a:t>
            </a:r>
            <a:r>
              <a:rPr sz="1400" b="1" i="0">
                <a:solidFill>
                  <a:srgbClr val="843C0C"/>
                </a:solidFill>
                <a:latin typeface="Calibri"/>
              </a:rPr>
              <a:t>2 connector types — but there are really 3</a:t>
            </a:r>
            <a:r>
              <a:rPr sz="1400" b="0" i="0">
                <a:solidFill>
                  <a:srgbClr val="262626"/>
                </a:solidFill>
                <a:latin typeface="Calibri"/>
              </a:rPr>
              <a:t>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4128" y="2697480"/>
          <a:ext cx="859536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194560"/>
                <a:gridCol w="914400"/>
              </a:tblGrid>
              <a:tr h="3314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 number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Front of 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Type 1 (same both sides)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Left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1015302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Back – 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Right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1016592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024128" y="4160520"/>
            <a:ext cx="10149840" cy="1234440"/>
          </a:xfrm>
          <a:prstGeom prst="rect">
            <a:avLst/>
          </a:prstGeom>
          <a:solidFill>
            <a:srgbClr val="FBF3E0"/>
          </a:solidFill>
          <a:ln w="9525">
            <a:solidFill>
              <a:srgbClr val="E6C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4160520"/>
            <a:ext cx="73152" cy="123444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97680"/>
            <a:ext cx="9692640" cy="10058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gap.  </a:t>
            </a:r>
            <a:r>
              <a:rPr sz="1350" b="0" i="0">
                <a:solidFill>
                  <a:srgbClr val="262626"/>
                </a:solidFill>
                <a:latin typeface="Calibri"/>
              </a:rPr>
              <a:t>Drawings already show all three correctly — 1015301 (×2) front, 1015302 + 1016592 back — but the BOM does not.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350" b="1" i="0">
                <a:solidFill>
                  <a:srgbClr val="1F3864"/>
                </a:solidFill>
                <a:latin typeface="Calibri"/>
              </a:rPr>
              <a:t>The fix.  </a:t>
            </a:r>
            <a:r>
              <a:rPr sz="1350" b="1" i="0">
                <a:solidFill>
                  <a:srgbClr val="23402C"/>
                </a:solidFill>
                <a:latin typeface="Calibri"/>
              </a:rPr>
              <a:t>Give each its own part number so it is ordered separately — then every connector arrives from Vietnam already assembled for its specific use (front / back-left / back-right), with no hand reconfiguring on the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532120"/>
            <a:ext cx="10149840" cy="7315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1">
                <a:solidFill>
                  <a:srgbClr val="595959"/>
                </a:solidFill>
                <a:latin typeface="Calibri"/>
              </a:rPr>
              <a:t>Note: </a:t>
            </a:r>
            <a:r>
              <a:rPr sz="1200" b="0" i="1">
                <a:solidFill>
                  <a:srgbClr val="595959"/>
                </a:solidFill>
                <a:latin typeface="Calibri"/>
              </a:rPr>
              <a:t>the Marquesa also uses a specific connector that should be coming pre-assembled — different from the three types covered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610" y="602606"/>
            <a:ext cx="4716780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Key Takeaways -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Sola Lounge (No-Arm)</a:t>
            </a:r>
            <a:r>
              <a:rPr lang="en-US"/>
              <a:t> Sofa assembly labor time: 124 min</a:t>
            </a:r>
          </a:p>
          <a:p>
            <a:r>
              <a:rPr lang="en-US" dirty="0"/>
              <a:t>Theoretical output based on cycle time (36.8 min), assuming parts are available from paint.</a:t>
            </a:r>
          </a:p>
          <a:p>
            <a:pPr lvl="1"/>
            <a:r>
              <a:rPr lang="en-US" dirty="0"/>
              <a:t>~11 units per day (4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43396928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38515" y="411506"/>
            <a:ext cx="10134600" cy="909701"/>
          </a:xfrm>
        </p:spPr>
        <p:txBody>
          <a:bodyPr/>
          <a:lstStyle/>
          <a:p>
            <a:r>
              <a:rPr dirty="0"/>
              <a:t>Operator Loading Chart by Task</a:t>
            </a:r>
            <a:r>
              <a:rPr lang="en-US" dirty="0"/>
              <a:t>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  <a:endParaRPr dirty="0">
              <a:solidFill>
                <a:srgbClr val="FF0000"/>
              </a:solidFill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435608" y="534924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78408" y="5248655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35608" y="445770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8408" y="435711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12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35608" y="356616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8408" y="346557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35608" y="267462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78408" y="257403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36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35608" y="1783080"/>
            <a:ext cx="6446519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78408" y="1682496"/>
            <a:ext cx="4114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Calibri"/>
              </a:rPr>
              <a:t>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38515" y="4717732"/>
            <a:ext cx="805815" cy="631507"/>
          </a:xfrm>
          <a:prstGeom prst="rect">
            <a:avLst/>
          </a:prstGeom>
          <a:solidFill>
            <a:srgbClr val="4472C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38515" y="4923758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38515" y="3851452"/>
            <a:ext cx="805815" cy="866279"/>
          </a:xfrm>
          <a:prstGeom prst="rect">
            <a:avLst/>
          </a:prstGeom>
          <a:solidFill>
            <a:srgbClr val="70AD47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38515" y="41748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38515" y="2885617"/>
            <a:ext cx="805815" cy="965834"/>
          </a:xfrm>
          <a:prstGeom prst="rect">
            <a:avLst/>
          </a:prstGeom>
          <a:solidFill>
            <a:srgbClr val="1F386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838515" y="3258807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38515" y="2613698"/>
            <a:ext cx="805815" cy="271919"/>
          </a:xfrm>
          <a:prstGeom prst="rect">
            <a:avLst/>
          </a:prstGeom>
          <a:solidFill>
            <a:srgbClr val="5B9BD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38515" y="2639929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4195" y="2375954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419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0145" y="4086225"/>
            <a:ext cx="805815" cy="1263014"/>
          </a:xfrm>
          <a:prstGeom prst="rect">
            <a:avLst/>
          </a:prstGeom>
          <a:solidFill>
            <a:srgbClr val="ED7D3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50145" y="460800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50145" y="2786062"/>
            <a:ext cx="805815" cy="1300162"/>
          </a:xfrm>
          <a:prstGeom prst="rect">
            <a:avLst/>
          </a:prstGeom>
          <a:solidFill>
            <a:srgbClr val="A5A5A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50145" y="3326415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5825" y="2548318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34.5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82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61775" y="2897505"/>
            <a:ext cx="805815" cy="245173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61775" y="401364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7455" y="2659761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745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3405" y="4352944"/>
            <a:ext cx="805815" cy="996295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73405" y="4741364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3405" y="3858139"/>
            <a:ext cx="805815" cy="494804"/>
          </a:xfrm>
          <a:prstGeom prst="rect">
            <a:avLst/>
          </a:prstGeom>
          <a:solidFill>
            <a:srgbClr val="843C0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3405" y="3995813"/>
            <a:ext cx="805815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9085" y="3620395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20.1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9085" y="5404103"/>
            <a:ext cx="135445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35608" y="2228850"/>
            <a:ext cx="6446519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01967" y="2009393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>
                <a:solidFill>
                  <a:srgbClr val="C00000"/>
                </a:solidFill>
                <a:latin typeface="Calibri"/>
              </a:rPr>
              <a:t>Takt 42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1463039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404040"/>
                </a:solidFill>
                <a:latin typeface="Calibri"/>
              </a:rPr>
              <a:t>Tasks (SWI step #)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1755648"/>
            <a:ext cx="146304" cy="146304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67344" y="17190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#2  </a:t>
            </a:r>
            <a:r>
              <a:rPr sz="950" b="0">
                <a:solidFill>
                  <a:srgbClr val="404040"/>
                </a:solidFill>
                <a:latin typeface="Calibri"/>
              </a:rPr>
              <a:t>Rivet Nut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2103120"/>
            <a:ext cx="146304" cy="14630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67344" y="2066543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#3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Pre-Assembly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2450592"/>
            <a:ext cx="146304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67344" y="2414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#4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Plate Installation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798064"/>
            <a:ext cx="146304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67344" y="276148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#5  </a:t>
            </a:r>
            <a:r>
              <a:rPr sz="950" b="0">
                <a:solidFill>
                  <a:srgbClr val="404040"/>
                </a:solidFill>
                <a:latin typeface="Calibri"/>
              </a:rPr>
              <a:t>Connector Attachment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145536"/>
            <a:ext cx="146304" cy="146304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67344" y="31089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#6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Sub-Assembly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3493008"/>
            <a:ext cx="146304" cy="146304"/>
          </a:xfrm>
          <a:prstGeom prst="rect">
            <a:avLst/>
          </a:prstGeom>
          <a:solidFill>
            <a:srgbClr val="A5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467344" y="34564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#7  </a:t>
            </a:r>
            <a:r>
              <a:rPr sz="950" b="0">
                <a:solidFill>
                  <a:srgbClr val="404040"/>
                </a:solidFill>
                <a:latin typeface="Calibri"/>
              </a:rPr>
              <a:t>Frame Connection Assembly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840479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67344" y="3803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#8  </a:t>
            </a:r>
            <a:r>
              <a:rPr sz="950" b="0">
                <a:solidFill>
                  <a:srgbClr val="404040"/>
                </a:solidFill>
                <a:latin typeface="Calibri"/>
              </a:rPr>
              <a:t>Seat Support Frame Assembly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4187952"/>
            <a:ext cx="146304" cy="14630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67344" y="41513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#9  </a:t>
            </a:r>
            <a:r>
              <a:rPr sz="950" b="0">
                <a:solidFill>
                  <a:srgbClr val="404040"/>
                </a:solidFill>
                <a:latin typeface="Calibri"/>
              </a:rPr>
              <a:t>Trellis Frame Installation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4535423"/>
            <a:ext cx="146304" cy="146304"/>
          </a:xfrm>
          <a:prstGeom prst="rect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67344" y="449884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3864"/>
                </a:solidFill>
                <a:latin typeface="Calibri"/>
              </a:rPr>
              <a:t>#10  </a:t>
            </a:r>
            <a:r>
              <a:rPr sz="950" b="0">
                <a:solidFill>
                  <a:srgbClr val="404040"/>
                </a:solidFill>
                <a:latin typeface="Calibri"/>
              </a:rPr>
              <a:t>Corner Cap &amp; End Cap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" y="580644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Takt 42 min   ·   Cycle time 36.8 min   ·   Capacity ~11 units/day   ·   84% line efficiency   ·   Seat Support (#8, 33 min) is the bottleneck — splitting it 2-up unlocks more output.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</a:t>
            </a:r>
            <a:r>
              <a:rPr lang="en-US" dirty="0">
                <a:solidFill>
                  <a:srgbClr val="FF0000"/>
                </a:solidFill>
              </a:rPr>
              <a:t>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7337" y="1366966"/>
            <a:ext cx="10135963" cy="4348034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Balance the line to takt: 4-station layout, every station under the 42-min takt (~11 units/day at ~84% efficiency)</a:t>
            </a:r>
          </a:p>
          <a:p>
            <a:r>
              <a:rPr dirty="0"/>
              <a:t>Split the Seat Support / trellis assembly (#8, 33 min) the bottleneck; multiple slats make it parallelizable, so 2 builders unlock more output</a:t>
            </a:r>
          </a:p>
          <a:p>
            <a:r>
              <a:rPr dirty="0"/>
              <a:t>Connectors delivered correct &amp; pre-drilled (Connector Pre-Assembly + Plate + Attachment ≈ 28 min </a:t>
            </a:r>
            <a:r>
              <a:t>combined) </a:t>
            </a:r>
            <a:r>
              <a:rPr dirty="0"/>
              <a:t>cut prep and drilling time</a:t>
            </a:r>
          </a:p>
          <a:p>
            <a:r>
              <a:rPr dirty="0"/>
              <a:t>Rivet nuts pre-installed by the supplier where possible (Rivet Nut Installation, #2)</a:t>
            </a:r>
          </a:p>
          <a:p>
            <a:r>
              <a:rPr dirty="0"/>
              <a:t>Point-of-use storage / kit parts per unit to cut walking and fetching</a:t>
            </a:r>
          </a:p>
          <a:p>
            <a:r>
              <a:rPr dirty="0"/>
              <a:t>Standardize cordless tools &amp; batteries and stage a tool set at each station</a:t>
            </a:r>
          </a:p>
          <a:p>
            <a:r>
              <a:rPr dirty="0"/>
              <a:t>Clearer quality standards to reduce wait time between assembly and packing approval</a:t>
            </a:r>
          </a:p>
        </p:txBody>
      </p:sp>
    </p:spTree>
    <p:extLst>
      <p:ext uri="{BB962C8B-B14F-4D97-AF65-F5344CB8AC3E}">
        <p14:creationId xmlns:p14="http://schemas.microsoft.com/office/powerpoint/2010/main" val="1215293112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511</Words>
  <Application>Microsoft Office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Agenda</vt:lpstr>
      <vt:lpstr>Key Takeaways: Swivel  </vt:lpstr>
      <vt:lpstr>Improvements: Swivel  </vt:lpstr>
      <vt:lpstr>Key Takeaways: Meritage </vt:lpstr>
      <vt:lpstr>Improvements: Meritage  </vt:lpstr>
      <vt:lpstr>Key Takeaways - Sola</vt:lpstr>
      <vt:lpstr>Operator Loading Chart by Task – Sola</vt:lpstr>
      <vt:lpstr>Improvements – Sola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Mac O'Keefe</cp:lastModifiedBy>
  <cp:revision>16</cp:revision>
  <dcterms:created xsi:type="dcterms:W3CDTF">2026-06-17T19:39:29Z</dcterms:created>
  <dcterms:modified xsi:type="dcterms:W3CDTF">2026-06-22T15:58:43Z</dcterms:modified>
</cp:coreProperties>
</file>