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309" r:id="rId2"/>
    <p:sldId id="311" r:id="rId3"/>
    <p:sldId id="312" r:id="rId4"/>
    <p:sldId id="314" r:id="rId11"/>
    <p:sldId id="313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91370FB-FD35-519B-7AE8-7E236CBF5376}" v="81" dt="2026-06-18T20:33:53.0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microsoft.com/office/2015/10/relationships/revisionInfo" Target="revisionInfo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84016-FA22-CE01-304D-2051236199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3BCAAE-BB82-2C0F-CEE9-B7B100A8A1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560C4B-5C56-E230-E8A7-624861562E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AE40D-2C1B-63E7-C711-E7F27B3832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A1557C-ECD5-70A9-8826-AA61613191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00479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4FE8D6-6C57-5E89-D11A-856FC81EF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D2A28A-8A97-B097-FC80-D94EFCDC5F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087E99-B1ED-FBED-7DB9-5AECD140A5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74A557-8CAE-8991-D049-C5A8107E11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3D8FE1-7D73-1D5D-C37F-5FA3ACFF9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68127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53F98E-86E8-B4CA-C67A-359898FE97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5B846D-6E2D-9D67-F14C-87243D40C4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276273-861A-E991-DA43-00636DA511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09DDB5-189D-A384-CEA4-3BD2BA8253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8C518A-B614-37FC-863E-A4843941C7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78419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F093D3-A21F-3795-4566-5D351DE4EC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9D4A3D-A546-27E1-8030-5E5511CB42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FF968B-DFC4-9A85-900E-43FB3F9C60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9DB4C4-FFB1-07A9-CC89-B02CB5677F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A97C89-85E6-6316-0BDC-4542B390D6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7B84AB-19EB-70CE-A097-DAECFE1CC4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02628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C3E112-ADBA-3517-FF11-868BC8EE4C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D7EAD4-974A-76BC-3163-529340851A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03D12D6-2A4E-2FD0-FE8E-9B7DEF31B8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F886737-7439-0832-B8ED-E20F470F60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E978ECE-7188-355B-35B3-7321354A54B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3E8C464-8094-ECAE-B5A4-29E14DCDEC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F3F2A86-75F6-0AB6-9F38-10FC77142A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F94D414-08FD-7A10-5ECA-49D3691616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04835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E35675-F986-CBE3-604B-5772B38F1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44E4B1F-5FD6-E9E1-D355-03B0C70BA9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6E80BB-035C-49B4-670B-7F35BBD781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E644A98-853F-3FC3-47AB-34ADFDEDE2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4488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B1F3853-2C7E-32B2-25F7-26F0BDBC4C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DA63404-5708-0A7C-B9FD-6E85D4291E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F9AC7D-1B1D-4979-1D96-B699949EB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77056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41E7D2-F4EF-147F-BF14-01F89B936B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3D0032-67E7-C3C0-2F14-1098602801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FC597C6-C86C-2893-AC12-844B7E5270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471BFA-7825-8949-5978-F1F68F4012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848390-9B2D-A30F-F51F-2D3F471F1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84EBED-9A4F-9CF4-A4C5-2F3C6FEE54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82977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C25C2F-B0FD-9959-27A1-CAE27EC66C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E17D0B4-4F5E-CD30-FCD7-8214E91048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A3101F-51CD-DCE5-690D-8BF194456E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B76A0D-E8AC-0D78-A202-723D55CF97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1B6365-7D40-6630-6E49-57D1C1D2C2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745A28-922C-3C00-C508-291CAF2D84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87079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5DE358-9C7B-26CE-682E-3BA95C7AA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C503E2-3892-EDDE-7692-920532DE28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1756F8-345C-F069-CFEF-B1FA2F2860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CE8159-4FC3-745A-F5B5-B30036FE62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4ACE29-4AA2-1D1B-F876-B5D4F6EA99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35065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99AD697-4A2D-6986-9B85-3538281EFB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9738171-43D9-2FA8-2567-8F439B8E8B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5D6014-B110-DDC7-38C3-E9A373E409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49DF84-D769-00FC-F6C6-1B1476E7C1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9AD371-131F-DDDE-958C-B6758209A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44450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2_Tit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Rectangle"/>
          <p:cNvSpPr/>
          <p:nvPr/>
        </p:nvSpPr>
        <p:spPr>
          <a:xfrm>
            <a:off x="-6350" y="-12700"/>
            <a:ext cx="12204700" cy="6883400"/>
          </a:xfrm>
          <a:prstGeom prst="rect">
            <a:avLst/>
          </a:prstGeom>
          <a:solidFill>
            <a:srgbClr val="737476"/>
          </a:solidFill>
          <a:ln w="12700">
            <a:miter lim="400000"/>
          </a:ln>
        </p:spPr>
        <p:txBody>
          <a:bodyPr lIns="25400" tIns="25400" rIns="25400" bIns="25400" anchor="ctr"/>
          <a:lstStyle/>
          <a:p>
            <a:pPr algn="l" defTabSz="207716">
              <a:lnSpc>
                <a:spcPct val="120000"/>
              </a:lnSpc>
              <a:spcBef>
                <a:spcPts val="0"/>
              </a:spcBef>
              <a:defRPr sz="2800" spc="-56">
                <a:solidFill>
                  <a:srgbClr val="FFFFFF"/>
                </a:solidFill>
                <a:latin typeface="Canela Deck Bold"/>
                <a:ea typeface="Canela Deck Bold"/>
                <a:cs typeface="Canela Deck Bold"/>
                <a:sym typeface="Canela Deck Bold"/>
              </a:defRPr>
            </a:pPr>
            <a:endParaRPr sz="1400"/>
          </a:p>
        </p:txBody>
      </p:sp>
      <p:sp>
        <p:nvSpPr>
          <p:cNvPr id="405" name="Rectangle"/>
          <p:cNvSpPr/>
          <p:nvPr userDrawn="1"/>
        </p:nvSpPr>
        <p:spPr>
          <a:xfrm>
            <a:off x="327660" y="290830"/>
            <a:ext cx="11536680" cy="627634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0" tIns="0" rIns="0" bIns="0" anchor="ctr"/>
          <a:lstStyle/>
          <a:p>
            <a:pPr defTabSz="207716">
              <a:lnSpc>
                <a:spcPct val="120000"/>
              </a:lnSpc>
              <a:spcBef>
                <a:spcPts val="0"/>
              </a:spcBef>
              <a:defRPr sz="3000" spc="-59">
                <a:solidFill>
                  <a:schemeClr val="accent5">
                    <a:hueOff val="-246905"/>
                    <a:satOff val="-77181"/>
                    <a:lumOff val="20457"/>
                  </a:schemeClr>
                </a:solidFill>
                <a:latin typeface="Canela Deck Bold"/>
                <a:ea typeface="Canela Deck Bold"/>
                <a:cs typeface="Canela Deck Bold"/>
                <a:sym typeface="Canela Deck Bold"/>
              </a:defRPr>
            </a:pPr>
            <a:endParaRPr sz="1500"/>
          </a:p>
        </p:txBody>
      </p:sp>
      <p:sp>
        <p:nvSpPr>
          <p:cNvPr id="407" name="Content Title"/>
          <p:cNvSpPr txBox="1">
            <a:spLocks noGrp="1"/>
          </p:cNvSpPr>
          <p:nvPr>
            <p:ph type="title" hasCustomPrompt="1"/>
          </p:nvPr>
        </p:nvSpPr>
        <p:spPr>
          <a:xfrm>
            <a:off x="1028700" y="457265"/>
            <a:ext cx="10134600" cy="909701"/>
          </a:xfrm>
          <a:prstGeom prst="rect">
            <a:avLst/>
          </a:prstGeom>
        </p:spPr>
        <p:txBody>
          <a:bodyPr anchor="ctr"/>
          <a:lstStyle>
            <a:lvl1pPr algn="l">
              <a:defRPr sz="4000" b="1">
                <a:solidFill>
                  <a:srgbClr val="737476"/>
                </a:solidFill>
                <a:latin typeface="+mj-lt"/>
              </a:defRPr>
            </a:lvl1pPr>
          </a:lstStyle>
          <a:p>
            <a:r>
              <a:rPr dirty="0"/>
              <a:t>Content Title</a:t>
            </a:r>
          </a:p>
        </p:txBody>
      </p:sp>
      <p:sp>
        <p:nvSpPr>
          <p:cNvPr id="41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3" name="Body Level One…">
            <a:extLst>
              <a:ext uri="{FF2B5EF4-FFF2-40B4-BE49-F238E27FC236}">
                <a16:creationId xmlns:a16="http://schemas.microsoft.com/office/drawing/2014/main" id="{30CDAFA4-4CF5-7267-C176-CA9BC1FBF075}"/>
              </a:ext>
            </a:extLst>
          </p:cNvPr>
          <p:cNvSpPr txBox="1">
            <a:spLocks noGrp="1"/>
          </p:cNvSpPr>
          <p:nvPr>
            <p:ph type="body" idx="1" hasCustomPrompt="1"/>
          </p:nvPr>
        </p:nvSpPr>
        <p:spPr>
          <a:xfrm>
            <a:off x="1028019" y="1844041"/>
            <a:ext cx="10135963" cy="3956502"/>
          </a:xfrm>
          <a:prstGeom prst="rect">
            <a:avLst/>
          </a:prstGeom>
        </p:spPr>
        <p:txBody>
          <a:bodyPr anchor="t"/>
          <a:lstStyle>
            <a:lvl1pPr marL="222250" indent="-222250" algn="l" defTabSz="1219169">
              <a:lnSpc>
                <a:spcPct val="100000"/>
              </a:lnSpc>
              <a:spcBef>
                <a:spcPts val="2100"/>
              </a:spcBef>
              <a:buSzPct val="100000"/>
              <a:buChar char="•"/>
              <a:defRPr sz="2000" b="0" cap="none" baseline="0">
                <a:solidFill>
                  <a:srgbClr val="737476"/>
                </a:solidFill>
                <a:latin typeface="+mn-lt"/>
                <a:ea typeface="Azo Sans"/>
                <a:cs typeface="Azo Sans"/>
                <a:sym typeface="Azo Sans"/>
              </a:defRPr>
            </a:lvl1pPr>
            <a:lvl2pPr marL="444500" indent="-222250" algn="l" defTabSz="1219169">
              <a:lnSpc>
                <a:spcPct val="100000"/>
              </a:lnSpc>
              <a:spcBef>
                <a:spcPts val="2100"/>
              </a:spcBef>
              <a:buSzPct val="100000"/>
              <a:buChar char="•"/>
              <a:defRPr sz="1800" b="0" cap="none" baseline="0">
                <a:solidFill>
                  <a:srgbClr val="737476"/>
                </a:solidFill>
                <a:latin typeface="+mn-lt"/>
                <a:ea typeface="Azo Sans"/>
                <a:cs typeface="Azo Sans"/>
                <a:sym typeface="Azo Sans"/>
              </a:defRPr>
            </a:lvl2pPr>
            <a:lvl3pPr marL="815975" indent="-371475" algn="l" defTabSz="1219169">
              <a:lnSpc>
                <a:spcPct val="100000"/>
              </a:lnSpc>
              <a:spcBef>
                <a:spcPts val="2100"/>
              </a:spcBef>
              <a:buSzPct val="100000"/>
              <a:buFont typeface="Arial" panose="020B0604020202020204" pitchFamily="34" charset="0"/>
              <a:buChar char="•"/>
              <a:defRPr sz="1600" b="0" cap="none" baseline="0">
                <a:solidFill>
                  <a:srgbClr val="737476"/>
                </a:solidFill>
                <a:latin typeface="+mn-lt"/>
                <a:ea typeface="Azo Sans"/>
                <a:cs typeface="Azo Sans"/>
                <a:sym typeface="Azo Sans"/>
              </a:defRPr>
            </a:lvl3pPr>
            <a:lvl4pPr marL="889000" indent="-222250" algn="l" defTabSz="1219169">
              <a:lnSpc>
                <a:spcPct val="80000"/>
              </a:lnSpc>
              <a:spcBef>
                <a:spcPts val="2100"/>
              </a:spcBef>
              <a:buSzPct val="100000"/>
              <a:buChar char="•"/>
              <a:defRPr sz="1400" b="0" cap="none" baseline="0">
                <a:solidFill>
                  <a:srgbClr val="737476"/>
                </a:solidFill>
                <a:latin typeface="+mn-lt"/>
                <a:ea typeface="Azo Sans"/>
                <a:cs typeface="Azo Sans"/>
                <a:sym typeface="Azo Sans"/>
              </a:defRPr>
            </a:lvl4pPr>
            <a:lvl5pPr marL="1111250" indent="-222250" algn="l" defTabSz="1219169">
              <a:lnSpc>
                <a:spcPct val="80000"/>
              </a:lnSpc>
              <a:spcBef>
                <a:spcPts val="2100"/>
              </a:spcBef>
              <a:buSzPct val="100000"/>
              <a:buChar char="•"/>
              <a:defRPr sz="2000" b="0" cap="none" baseline="0">
                <a:solidFill>
                  <a:srgbClr val="737476"/>
                </a:solidFill>
                <a:latin typeface="+mn-lt"/>
                <a:ea typeface="Azo Sans"/>
                <a:cs typeface="Azo Sans"/>
                <a:sym typeface="Azo Sans"/>
              </a:defRPr>
            </a:lvl5pPr>
          </a:lstStyle>
          <a:p>
            <a:pPr lvl="0"/>
            <a:r>
              <a:rPr lang="en-US" dirty="0"/>
              <a:t>Main 1</a:t>
            </a:r>
          </a:p>
          <a:p>
            <a:pPr lvl="0"/>
            <a:r>
              <a:rPr lang="en-US" dirty="0"/>
              <a:t>Main 2</a:t>
            </a:r>
          </a:p>
          <a:p>
            <a:pPr lvl="1"/>
            <a:r>
              <a:rPr lang="en-US" dirty="0"/>
              <a:t>Sub 1 </a:t>
            </a:r>
          </a:p>
          <a:p>
            <a:pPr lvl="1"/>
            <a:r>
              <a:rPr lang="en-US" dirty="0"/>
              <a:t>Sub 2</a:t>
            </a:r>
          </a:p>
          <a:p>
            <a:pPr lvl="2"/>
            <a:r>
              <a:rPr lang="en-US" dirty="0"/>
              <a:t>Sub 2a</a:t>
            </a:r>
          </a:p>
          <a:p>
            <a:pPr lvl="2"/>
            <a:r>
              <a:rPr lang="en-US" dirty="0"/>
              <a:t>Sub 2b</a:t>
            </a:r>
          </a:p>
          <a:p>
            <a:pPr lvl="3"/>
            <a:r>
              <a:rPr lang="en-US" dirty="0"/>
              <a:t>Sub 2bi</a:t>
            </a:r>
            <a:endParaRPr dirty="0"/>
          </a:p>
          <a:p>
            <a:pPr lvl="2"/>
            <a:endParaRPr dirty="0"/>
          </a:p>
          <a:p>
            <a:pPr lvl="3"/>
            <a:endParaRPr dirty="0"/>
          </a:p>
          <a:p>
            <a:pPr lvl="4"/>
            <a:endParaRPr dirty="0"/>
          </a:p>
        </p:txBody>
      </p:sp>
      <p:pic>
        <p:nvPicPr>
          <p:cNvPr id="4" name="Picture 3" descr="A picture containing silhouette, plant&#10;&#10;Description automatically generated">
            <a:extLst>
              <a:ext uri="{FF2B5EF4-FFF2-40B4-BE49-F238E27FC236}">
                <a16:creationId xmlns:a16="http://schemas.microsoft.com/office/drawing/2014/main" id="{6A47F707-7F7A-44F1-E09F-E04DC1C5638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993502" y="6104072"/>
            <a:ext cx="1649987" cy="402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0506881"/>
      </p:ext>
    </p:extLst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Cov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Rectangle"/>
          <p:cNvSpPr/>
          <p:nvPr/>
        </p:nvSpPr>
        <p:spPr>
          <a:xfrm>
            <a:off x="-6350" y="-12700"/>
            <a:ext cx="12204700" cy="6883400"/>
          </a:xfrm>
          <a:prstGeom prst="rect">
            <a:avLst/>
          </a:prstGeom>
          <a:solidFill>
            <a:srgbClr val="737476"/>
          </a:solidFill>
          <a:ln w="12700">
            <a:miter lim="400000"/>
          </a:ln>
        </p:spPr>
        <p:txBody>
          <a:bodyPr lIns="25400" tIns="25400" rIns="25400" bIns="25400" anchor="ctr"/>
          <a:lstStyle/>
          <a:p>
            <a:pPr algn="l" defTabSz="207716">
              <a:lnSpc>
                <a:spcPct val="120000"/>
              </a:lnSpc>
              <a:spcBef>
                <a:spcPts val="0"/>
              </a:spcBef>
              <a:defRPr sz="2800" spc="-56">
                <a:solidFill>
                  <a:srgbClr val="FFFFFF"/>
                </a:solidFill>
                <a:latin typeface="Canela Deck Bold"/>
                <a:ea typeface="Canela Deck Bold"/>
                <a:cs typeface="Canela Deck Bold"/>
                <a:sym typeface="Canela Deck Bold"/>
              </a:defRPr>
            </a:pPr>
            <a:endParaRPr sz="1400"/>
          </a:p>
        </p:txBody>
      </p:sp>
      <p:pic>
        <p:nvPicPr>
          <p:cNvPr id="85" name="Image" descr="Image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30648" y="3106005"/>
            <a:ext cx="3949909" cy="645991"/>
          </a:xfrm>
          <a:prstGeom prst="rect">
            <a:avLst/>
          </a:prstGeom>
          <a:ln w="12700">
            <a:miter lim="400000"/>
          </a:ln>
        </p:spPr>
      </p:pic>
      <p:sp>
        <p:nvSpPr>
          <p:cNvPr id="8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45446284"/>
      </p:ext>
    </p:extLst>
  </p:cSld>
  <p:clrMapOvr>
    <a:masterClrMapping/>
  </p:clrMapOvr>
  <p:transition spd="med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A98BBD4-2A27-8653-4250-BB052B3952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7645A3-F900-023C-0932-F612D4843B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93EE3A-86E7-9D84-B7DB-F8FE93D6382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1F44BB-14DF-43E9-8FF7-086183F60DE1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11A4C2-6A03-78A6-9DF6-02F8AE102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1D04D0-6DF8-65BA-0D8D-76201F53B6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AFA5C62-77FA-489E-8837-E49FAC254F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59700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958C759-B4D3-1D90-C69F-F9AF52F8E206}"/>
              </a:ext>
            </a:extLst>
          </p:cNvPr>
          <p:cNvSpPr txBox="1"/>
          <p:nvPr/>
        </p:nvSpPr>
        <p:spPr>
          <a:xfrm>
            <a:off x="818334" y="1918624"/>
            <a:ext cx="6743753" cy="134190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ctr">
            <a:spAutoFit/>
          </a:bodyPr>
          <a:lstStyle/>
          <a:p>
            <a:pPr defTabSz="177800" hangingPunct="0">
              <a:lnSpc>
                <a:spcPct val="90000"/>
              </a:lnSpc>
              <a:spcBef>
                <a:spcPts val="600"/>
              </a:spcBef>
            </a:pPr>
            <a:r>
              <a:rPr lang="en-US" sz="4400">
                <a:solidFill>
                  <a:schemeClr val="bg1"/>
                </a:solidFill>
                <a:latin typeface="+mj-lt"/>
                <a:ea typeface="Proxima Nova Medium"/>
                <a:cs typeface="Proxima Nova Medium"/>
                <a:sym typeface="Proxima Nova Medium"/>
              </a:rPr>
              <a:t>Meritage 3 Seater Sofa </a:t>
            </a:r>
            <a:r>
              <a:rPr lang="en-US" sz="4400" dirty="0">
                <a:solidFill>
                  <a:schemeClr val="bg1"/>
                </a:solidFill>
                <a:latin typeface="+mj-lt"/>
                <a:ea typeface="Proxima Nova Medium"/>
                <a:cs typeface="Proxima Nova Medium"/>
                <a:sym typeface="Proxima Nova Medium"/>
              </a:rPr>
              <a:t>Standard Work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64F3D6-6317-85ED-5F90-EDE4B30CCE7A}"/>
              </a:ext>
            </a:extLst>
          </p:cNvPr>
          <p:cNvSpPr txBox="1"/>
          <p:nvPr/>
        </p:nvSpPr>
        <p:spPr>
          <a:xfrm>
            <a:off x="951685" y="3432307"/>
            <a:ext cx="2681287" cy="49090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ctr">
            <a:spAutoFit/>
          </a:bodyPr>
          <a:lstStyle/>
          <a:p>
            <a:pPr defTabSz="177800" hangingPunct="0">
              <a:lnSpc>
                <a:spcPct val="90000"/>
              </a:lnSpc>
              <a:spcBef>
                <a:spcPts val="600"/>
              </a:spcBef>
            </a:pPr>
            <a:r>
              <a:rPr lang="en-US" sz="1050" b="1">
                <a:solidFill>
                  <a:schemeClr val="bg1"/>
                </a:solidFill>
                <a:latin typeface="+mj-lt"/>
              </a:rPr>
              <a:t>Douglas O'Keefe</a:t>
            </a:r>
            <a:endParaRPr lang="en-US" b="1">
              <a:solidFill>
                <a:schemeClr val="bg1"/>
              </a:solidFill>
              <a:latin typeface="+mj-lt"/>
              <a:ea typeface="Proxima Nova Medium"/>
              <a:cs typeface="Proxima Nova Medium"/>
            </a:endParaRPr>
          </a:p>
          <a:p>
            <a:pPr defTabSz="177800" hangingPunct="0">
              <a:lnSpc>
                <a:spcPct val="90000"/>
              </a:lnSpc>
              <a:spcBef>
                <a:spcPts val="600"/>
              </a:spcBef>
            </a:pPr>
            <a:r>
              <a:rPr lang="en-US" sz="1050" b="1">
                <a:solidFill>
                  <a:schemeClr val="bg1"/>
                </a:solidFill>
                <a:latin typeface="+mj-lt"/>
              </a:rPr>
              <a:t>06/18/2026</a:t>
            </a:r>
            <a:endParaRPr lang="en-US" sz="1450" b="1" dirty="0">
              <a:solidFill>
                <a:schemeClr val="bg1"/>
              </a:solidFill>
              <a:latin typeface="+mj-lt"/>
              <a:ea typeface="Proxima Nova Medium"/>
              <a:cs typeface="Proxima Nova Medium"/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DA8FB91-CE9C-32F3-F900-6A26DC906367}"/>
              </a:ext>
            </a:extLst>
          </p:cNvPr>
          <p:cNvCxnSpPr/>
          <p:nvPr/>
        </p:nvCxnSpPr>
        <p:spPr>
          <a:xfrm>
            <a:off x="951685" y="3105805"/>
            <a:ext cx="2392326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1378831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CBA2AF-CBBA-1D8D-1D92-E256370418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620CB3-3005-424E-C8D0-64E65EEF95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current state standard work procedure</a:t>
            </a:r>
          </a:p>
          <a:p>
            <a:pPr lvl="1"/>
            <a:r>
              <a:rPr lang="en-US" dirty="0"/>
              <a:t>Cycle Time</a:t>
            </a:r>
          </a:p>
          <a:p>
            <a:pPr lvl="1"/>
            <a:r>
              <a:rPr lang="en-US" dirty="0"/>
              <a:t>Theoretical Output</a:t>
            </a:r>
          </a:p>
          <a:p>
            <a:pPr lvl="1"/>
            <a:r>
              <a:rPr lang="en-US" dirty="0"/>
              <a:t>Order of Operations</a:t>
            </a:r>
          </a:p>
          <a:p>
            <a:r>
              <a:rPr lang="en-US" dirty="0"/>
              <a:t>Operator Loading Chart by Task</a:t>
            </a:r>
          </a:p>
          <a:p>
            <a:r>
              <a:rPr lang="en-US" dirty="0"/>
              <a:t>Potential Improvements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2058811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CA8A62-D0C7-6EBB-2F3B-10D1798206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Takeaways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773628-9B98-D01A-F206-8718B5EC1E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Meritage 3 seater</a:t>
            </a:r>
            <a:r>
              <a:rPr lang="en-US"/>
              <a:t> Sofa assembly labor time: 254 min </a:t>
            </a:r>
          </a:p>
          <a:p>
            <a:r>
              <a:rPr lang="en-US" dirty="0"/>
              <a:t>Theoretical output based on cycle time (41.5 min), assuming parts are available from paint.</a:t>
            </a:r>
          </a:p>
          <a:p>
            <a:pPr lvl="1"/>
            <a:r>
              <a:rPr lang="en-US" dirty="0"/>
              <a:t>~10 units per day (7 operators)</a:t>
            </a:r>
          </a:p>
          <a:p>
            <a:pPr lvl="1"/>
            <a:r>
              <a:rPr lang="en-US" dirty="0"/>
              <a:t>Takt time required (demand of 10 units): 42 min</a:t>
            </a:r>
          </a:p>
        </p:txBody>
      </p:sp>
    </p:spTree>
    <p:extLst>
      <p:ext uri="{BB962C8B-B14F-4D97-AF65-F5344CB8AC3E}">
        <p14:creationId xmlns:p14="http://schemas.microsoft.com/office/powerpoint/2010/main" val="3967448658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54F6A0-47EF-52F0-F471-A3C9F254EF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Improvements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309034-701E-75E5-9BB2-7BA8BB756C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of Use Storage</a:t>
            </a:r>
          </a:p>
          <a:p>
            <a:r>
              <a:rPr lang="en-US" dirty="0"/>
              <a:t>Better fitment of cushions and cushion covers</a:t>
            </a:r>
          </a:p>
          <a:p>
            <a:r>
              <a:rPr lang="en-US" dirty="0"/>
              <a:t>Improved connector reliability</a:t>
            </a:r>
          </a:p>
          <a:p>
            <a:r>
              <a:rPr lang="en-US" dirty="0"/>
              <a:t>Clearer quality standards to reduce wait time between assembly and </a:t>
            </a:r>
            <a:r>
              <a:rPr lang="en-US"/>
              <a:t>packing approval</a:t>
            </a:r>
          </a:p>
          <a:p>
            <a:pPr/>
            <a:r>
              <a:t>Eliminate connector screw swaps &amp; reorientation — recovers ~1:40 of labor per unit to redeploy elsewhere</a:t>
            </a:r>
            <a:endParaRPr lang="en-US"/>
          </a:p>
          <a:p>
            <a:pPr/>
            <a:r>
              <a:t>Pre-drill connector holes for screw entry — saves ~4 min per frame assembly (seat-frame assembly is a top bottleneck)</a:t>
            </a:r>
          </a:p>
          <a:p>
            <a:pPr/>
            <a:r>
              <a:t>Connectors pre-drilled 100% for leg pieces, and pre-drill mini-connectors where possible — improves every Meritage</a:t>
            </a:r>
          </a:p>
          <a:p>
            <a:pPr/>
            <a:r>
              <a:t>Receive leg pieces pre-assembled from manufacturing — ~90% are built identically, so move that work upstream</a:t>
            </a:r>
          </a:p>
        </p:txBody>
      </p:sp>
    </p:spTree>
    <p:extLst>
      <p:ext uri="{BB962C8B-B14F-4D97-AF65-F5344CB8AC3E}">
        <p14:creationId xmlns:p14="http://schemas.microsoft.com/office/powerpoint/2010/main" val="1834426848"/>
      </p:ext>
    </p:extLst>
  </p:cSld>
  <p:clrMapOvr>
    <a:masterClrMapping/>
  </p:clrMapOvr>
  <p:transition spd="med"/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Operator Loading Chart by Task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435608" y="5349240"/>
            <a:ext cx="6446519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78408" y="5248655"/>
            <a:ext cx="411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  <a:latin typeface="Calibri"/>
              </a:rPr>
              <a:t>0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435608" y="4457700"/>
            <a:ext cx="6446519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78408" y="4357116"/>
            <a:ext cx="411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  <a:latin typeface="Calibri"/>
              </a:rPr>
              <a:t>12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35608" y="3566160"/>
            <a:ext cx="6446519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978408" y="3465576"/>
            <a:ext cx="411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  <a:latin typeface="Calibri"/>
              </a:rPr>
              <a:t>24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35608" y="2674620"/>
            <a:ext cx="6446519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78408" y="2574036"/>
            <a:ext cx="411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  <a:latin typeface="Calibri"/>
              </a:rPr>
              <a:t>36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435608" y="1783080"/>
            <a:ext cx="6446519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78408" y="1682496"/>
            <a:ext cx="411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  <a:latin typeface="Calibri"/>
              </a:rPr>
              <a:t>48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50492" y="3919061"/>
            <a:ext cx="644652" cy="1430178"/>
          </a:xfrm>
          <a:prstGeom prst="rect">
            <a:avLst/>
          </a:prstGeom>
          <a:solidFill>
            <a:srgbClr val="4472C4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50492" y="4524422"/>
            <a:ext cx="64465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650492" y="3324701"/>
            <a:ext cx="644652" cy="594359"/>
          </a:xfrm>
          <a:prstGeom prst="rect">
            <a:avLst/>
          </a:prstGeom>
          <a:solidFill>
            <a:srgbClr val="70AD47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50492" y="3512153"/>
            <a:ext cx="64465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6172" y="3086957"/>
            <a:ext cx="119329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F3864"/>
                </a:solidFill>
                <a:latin typeface="Calibri"/>
              </a:rPr>
              <a:t>27.2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6172" y="5404103"/>
            <a:ext cx="119329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404040"/>
                </a:solidFill>
                <a:latin typeface="Calibri"/>
              </a:rPr>
              <a:t>S1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24912" y="2971800"/>
            <a:ext cx="644652" cy="2377439"/>
          </a:xfrm>
          <a:prstGeom prst="rect">
            <a:avLst/>
          </a:prstGeom>
          <a:solidFill>
            <a:srgbClr val="1F3864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24912" y="4050791"/>
            <a:ext cx="64465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50592" y="2734056"/>
            <a:ext cx="119329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F3864"/>
                </a:solidFill>
                <a:latin typeface="Calibri"/>
              </a:rPr>
              <a:t>32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50592" y="5404103"/>
            <a:ext cx="119329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404040"/>
                </a:solidFill>
                <a:latin typeface="Calibri"/>
              </a:rPr>
              <a:t>S2  x2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799332" y="2303145"/>
            <a:ext cx="644652" cy="3046094"/>
          </a:xfrm>
          <a:prstGeom prst="rect">
            <a:avLst/>
          </a:prstGeom>
          <a:solidFill>
            <a:srgbClr val="5B9BD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99332" y="3716464"/>
            <a:ext cx="64465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5a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5012" y="2065401"/>
            <a:ext cx="119329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F3864"/>
                </a:solidFill>
                <a:latin typeface="Calibri"/>
              </a:rPr>
              <a:t>41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25012" y="5404103"/>
            <a:ext cx="119329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404040"/>
                </a:solidFill>
                <a:latin typeface="Calibri"/>
              </a:rPr>
              <a:t>S3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73752" y="4903470"/>
            <a:ext cx="644652" cy="445769"/>
          </a:xfrm>
          <a:prstGeom prst="rect">
            <a:avLst/>
          </a:prstGeom>
          <a:solidFill>
            <a:srgbClr val="5B9BD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73752" y="5016627"/>
            <a:ext cx="64465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5b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73752" y="2414587"/>
            <a:ext cx="644652" cy="2488882"/>
          </a:xfrm>
          <a:prstGeom prst="rect">
            <a:avLst/>
          </a:prstGeom>
          <a:solidFill>
            <a:srgbClr val="ED7D31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73752" y="3549300"/>
            <a:ext cx="64465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6a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99432" y="2176843"/>
            <a:ext cx="119329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F3864"/>
                </a:solidFill>
                <a:latin typeface="Calibri"/>
              </a:rPr>
              <a:t>39.5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99432" y="5404103"/>
            <a:ext cx="119329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404040"/>
                </a:solidFill>
                <a:latin typeface="Calibri"/>
              </a:rPr>
              <a:t>S4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948172" y="4606290"/>
            <a:ext cx="644652" cy="742949"/>
          </a:xfrm>
          <a:prstGeom prst="rect">
            <a:avLst/>
          </a:prstGeom>
          <a:solidFill>
            <a:srgbClr val="ED7D31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8172" y="4868037"/>
            <a:ext cx="64465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6b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48172" y="3268979"/>
            <a:ext cx="644652" cy="1337310"/>
          </a:xfrm>
          <a:prstGeom prst="rect">
            <a:avLst/>
          </a:prstGeom>
          <a:solidFill>
            <a:srgbClr val="A5A5A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948172" y="3827906"/>
            <a:ext cx="64465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48172" y="2897504"/>
            <a:ext cx="644652" cy="371474"/>
          </a:xfrm>
          <a:prstGeom prst="rect">
            <a:avLst/>
          </a:prstGeom>
          <a:solidFill>
            <a:srgbClr val="997300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8172" y="2973514"/>
            <a:ext cx="64465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948172" y="2303145"/>
            <a:ext cx="644652" cy="594359"/>
          </a:xfrm>
          <a:prstGeom prst="rect">
            <a:avLst/>
          </a:prstGeom>
          <a:solidFill>
            <a:srgbClr val="54823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8172" y="2490597"/>
            <a:ext cx="64465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73852" y="2065401"/>
            <a:ext cx="119329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F3864"/>
                </a:solidFill>
                <a:latin typeface="Calibri"/>
              </a:rPr>
              <a:t>41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73852" y="5404103"/>
            <a:ext cx="119329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404040"/>
                </a:solidFill>
                <a:latin typeface="Calibri"/>
              </a:rPr>
              <a:t>S5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022592" y="3677602"/>
            <a:ext cx="644652" cy="1671637"/>
          </a:xfrm>
          <a:prstGeom prst="rect">
            <a:avLst/>
          </a:prstGeom>
          <a:solidFill>
            <a:srgbClr val="843C0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22592" y="4403693"/>
            <a:ext cx="64465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022592" y="2340292"/>
            <a:ext cx="644652" cy="1337310"/>
          </a:xfrm>
          <a:prstGeom prst="rect">
            <a:avLst/>
          </a:prstGeom>
          <a:solidFill>
            <a:srgbClr val="7B7B7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022592" y="2899219"/>
            <a:ext cx="64465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022592" y="2265997"/>
            <a:ext cx="644652" cy="74294"/>
          </a:xfrm>
          <a:prstGeom prst="rect">
            <a:avLst/>
          </a:prstGeom>
          <a:solidFill>
            <a:srgbClr val="BF8F00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748272" y="2028253"/>
            <a:ext cx="119329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F3864"/>
                </a:solidFill>
                <a:latin typeface="Calibri"/>
              </a:rPr>
              <a:t>41.5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48272" y="5404103"/>
            <a:ext cx="119329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404040"/>
                </a:solidFill>
                <a:latin typeface="Calibri"/>
              </a:rPr>
              <a:t>S6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1435608" y="2228850"/>
            <a:ext cx="6446519" cy="0"/>
          </a:xfrm>
          <a:prstGeom prst="line">
            <a:avLst/>
          </a:prstGeom>
          <a:ln w="19050">
            <a:solidFill>
              <a:srgbClr val="C000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6601967" y="2009393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C00000"/>
                </a:solidFill>
                <a:latin typeface="Calibri"/>
              </a:rPr>
              <a:t>Takt 42 min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0" y="1463039"/>
            <a:ext cx="3108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404040"/>
                </a:solidFill>
                <a:latin typeface="Calibri"/>
              </a:rPr>
              <a:t>Tasks (SWI step #)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229600" y="1755648"/>
            <a:ext cx="146304" cy="146304"/>
          </a:xfrm>
          <a:prstGeom prst="rect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467344" y="1719072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F3864"/>
                </a:solidFill>
                <a:latin typeface="Calibri"/>
              </a:rPr>
              <a:t>#2  </a:t>
            </a:r>
            <a:r>
              <a:rPr sz="950" b="0">
                <a:solidFill>
                  <a:srgbClr val="404040"/>
                </a:solidFill>
                <a:latin typeface="Calibri"/>
              </a:rPr>
              <a:t>Connector Prep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229600" y="2071116"/>
            <a:ext cx="146304" cy="146304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467344" y="203454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F3864"/>
                </a:solidFill>
                <a:latin typeface="Calibri"/>
              </a:rPr>
              <a:t>#3  </a:t>
            </a:r>
            <a:r>
              <a:rPr sz="950" b="0">
                <a:solidFill>
                  <a:srgbClr val="404040"/>
                </a:solidFill>
                <a:latin typeface="Calibri"/>
              </a:rPr>
              <a:t>Leg Assembly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229600" y="2386584"/>
            <a:ext cx="146304" cy="1463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467344" y="2350008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F3864"/>
                </a:solidFill>
                <a:latin typeface="Calibri"/>
              </a:rPr>
              <a:t>#4  </a:t>
            </a:r>
            <a:r>
              <a:rPr sz="950" b="0">
                <a:solidFill>
                  <a:srgbClr val="404040"/>
                </a:solidFill>
                <a:latin typeface="Calibri"/>
              </a:rPr>
              <a:t>Arms Assembly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229600" y="2702051"/>
            <a:ext cx="146304" cy="146304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467344" y="2665475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F3864"/>
                </a:solidFill>
                <a:latin typeface="Calibri"/>
              </a:rPr>
              <a:t>#5  </a:t>
            </a:r>
            <a:r>
              <a:rPr sz="950" b="0">
                <a:solidFill>
                  <a:srgbClr val="404040"/>
                </a:solidFill>
                <a:latin typeface="Calibri"/>
              </a:rPr>
              <a:t>Seat Frame Assembly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229600" y="3017520"/>
            <a:ext cx="146304" cy="146304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467344" y="2980944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F3864"/>
                </a:solidFill>
                <a:latin typeface="Calibri"/>
              </a:rPr>
              <a:t>#6  </a:t>
            </a:r>
            <a:r>
              <a:rPr sz="950" b="0">
                <a:solidFill>
                  <a:srgbClr val="404040"/>
                </a:solidFill>
                <a:latin typeface="Calibri"/>
              </a:rPr>
              <a:t>Back Frame Assembly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229600" y="3332988"/>
            <a:ext cx="146304" cy="146304"/>
          </a:xfrm>
          <a:prstGeom prst="rect">
            <a:avLst/>
          </a:prstGeom>
          <a:solidFill>
            <a:srgbClr val="A5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467344" y="3296412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F3864"/>
                </a:solidFill>
                <a:latin typeface="Calibri"/>
              </a:rPr>
              <a:t>#7  </a:t>
            </a:r>
            <a:r>
              <a:rPr sz="950" b="0">
                <a:solidFill>
                  <a:srgbClr val="404040"/>
                </a:solidFill>
                <a:latin typeface="Calibri"/>
              </a:rPr>
              <a:t>Attaching Arms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229600" y="3648456"/>
            <a:ext cx="146304" cy="146304"/>
          </a:xfrm>
          <a:prstGeom prst="rect">
            <a:avLst/>
          </a:prstGeom>
          <a:solidFill>
            <a:srgbClr val="997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467344" y="3611879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F3864"/>
                </a:solidFill>
                <a:latin typeface="Calibri"/>
              </a:rPr>
              <a:t>#8  </a:t>
            </a:r>
            <a:r>
              <a:rPr sz="950" b="0">
                <a:solidFill>
                  <a:srgbClr val="404040"/>
                </a:solidFill>
                <a:latin typeface="Calibri"/>
              </a:rPr>
              <a:t>Attaching Back Support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229600" y="3963923"/>
            <a:ext cx="146304" cy="146304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467344" y="3927348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F3864"/>
                </a:solidFill>
                <a:latin typeface="Calibri"/>
              </a:rPr>
              <a:t>#9  </a:t>
            </a:r>
            <a:r>
              <a:rPr sz="950" b="0">
                <a:solidFill>
                  <a:srgbClr val="404040"/>
                </a:solidFill>
                <a:latin typeface="Calibri"/>
              </a:rPr>
              <a:t>Leg Finishing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229600" y="4279392"/>
            <a:ext cx="146304" cy="146304"/>
          </a:xfrm>
          <a:prstGeom prst="rect">
            <a:avLst/>
          </a:prstGeom>
          <a:solidFill>
            <a:srgbClr val="843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467344" y="4242816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F3864"/>
                </a:solidFill>
                <a:latin typeface="Calibri"/>
              </a:rPr>
              <a:t>#10  </a:t>
            </a:r>
            <a:r>
              <a:rPr sz="950" b="0">
                <a:solidFill>
                  <a:srgbClr val="404040"/>
                </a:solidFill>
                <a:latin typeface="Calibri"/>
              </a:rPr>
              <a:t>Seat Support Frame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229600" y="4594859"/>
            <a:ext cx="146304" cy="146304"/>
          </a:xfrm>
          <a:prstGeom prst="rect">
            <a:avLst/>
          </a:prstGeom>
          <a:solidFill>
            <a:srgbClr val="7B7B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467344" y="4558283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F3864"/>
                </a:solidFill>
                <a:latin typeface="Calibri"/>
              </a:rPr>
              <a:t>#11  </a:t>
            </a:r>
            <a:r>
              <a:rPr sz="950" b="0">
                <a:solidFill>
                  <a:srgbClr val="404040"/>
                </a:solidFill>
                <a:latin typeface="Calibri"/>
              </a:rPr>
              <a:t>Attaching Seat Frame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229600" y="4910327"/>
            <a:ext cx="146304" cy="146304"/>
          </a:xfrm>
          <a:prstGeom prst="rect">
            <a:avLst/>
          </a:prstGeom>
          <a:solidFill>
            <a:srgbClr val="BF8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467344" y="4873752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F3864"/>
                </a:solidFill>
                <a:latin typeface="Calibri"/>
              </a:rPr>
              <a:t>#12  </a:t>
            </a:r>
            <a:r>
              <a:rPr sz="950" b="0">
                <a:solidFill>
                  <a:srgbClr val="404040"/>
                </a:solidFill>
                <a:latin typeface="Calibri"/>
              </a:rPr>
              <a:t>Attach TUUCI Plate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24128" y="5806440"/>
            <a:ext cx="10241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404040"/>
                </a:solidFill>
                <a:latin typeface="Calibri"/>
              </a:rPr>
              <a:t>Takt 42 min   ·   Cycle time 41.5 min   ·   Capacity ~10 units/day   ·   88% line efficiency   ·   </a:t>
            </a:r>
            <a:r>
              <a:rPr sz="1100" b="0">
                <a:solidFill>
                  <a:srgbClr val="404040"/>
                </a:solidFill>
                <a:latin typeface="Calibri"/>
              </a:rPr>
              <a:t>S2 = Arms built by 2 operators (64 → 32 min); Seat Frame (#5) &amp; Back Frame (#6) split across stations.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</TotalTime>
  <Words>110</Words>
  <Application>Microsoft Office PowerPoint</Application>
  <PresentationFormat>Widescreen</PresentationFormat>
  <Paragraphs>21</Paragraphs>
  <Slides>4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5" baseType="lpstr">
      <vt:lpstr>Office Theme</vt:lpstr>
      <vt:lpstr>PowerPoint Presentation</vt:lpstr>
      <vt:lpstr>Agenda</vt:lpstr>
      <vt:lpstr>Key Takeaways</vt:lpstr>
      <vt:lpstr>Improvements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Anthony Costa</dc:creator>
  <cp:lastModifiedBy>Anthony Costa</cp:lastModifiedBy>
  <cp:revision>14</cp:revision>
  <dcterms:created xsi:type="dcterms:W3CDTF">2026-06-17T19:39:29Z</dcterms:created>
  <dcterms:modified xsi:type="dcterms:W3CDTF">2026-06-18T20:37:15Z</dcterms:modified>
</cp:coreProperties>
</file>