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4016-FA22-CE01-304D-20512361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BCAAE-BB82-2C0F-CEE9-B7B100A8A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0C4B-5C56-E230-E8A7-62486156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E40D-2C1B-63E7-C711-E7F27B38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557C-ECD5-70A9-8826-AA616131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0479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E8D6-6C57-5E89-D11A-856FC81E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A28A-8A97-B097-FC80-D94EFCDC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87E99-B1ED-FBED-7DB9-5AECD140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A557-8CAE-8991-D049-C5A8107E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8FE1-7D73-1D5D-C37F-5FA3ACFF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127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F98E-86E8-B4CA-C67A-359898FE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846D-6E2D-9D67-F14C-87243D40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273-861A-E991-DA43-00636DA5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DDB5-189D-A384-CEA4-3BD2BA82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518A-B614-37FC-863E-A4843941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419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93D3-A21F-3795-4566-5D351DE4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A3D-A546-27E1-8030-5E5511CB4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F968B-DFC4-9A85-900E-43FB3F9C6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DB4C4-FFB1-07A9-CC89-B02CB5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7C89-85E6-6316-0BDC-4542B390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B84AB-19EB-70CE-A097-DAECFE1C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6288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E112-ADBA-3517-FF11-868BC8E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7EAD4-974A-76BC-3163-52934085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D12D6-2A4E-2FD0-FE8E-9B7DEF31B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86737-7439-0832-B8ED-E20F470F6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78ECE-7188-355B-35B3-7321354A5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8C464-8094-ECAE-B5A4-29E14DCD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F2A86-75F6-0AB6-9F38-10FC7714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4D414-08FD-7A10-5ECA-49D36916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4835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5675-F986-CBE3-604B-5772B38F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E4B1F-5FD6-E9E1-D355-03B0C70B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E80BB-035C-49B4-670B-7F35BBD7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44A98-853F-3FC3-47AB-34ADFDE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4488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F3853-2C7E-32B2-25F7-26F0BDBC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63404-5708-0A7C-B9FD-6E85D429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9AC7D-1B1D-4979-1D96-B699949E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0569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E7D2-F4EF-147F-BF14-01F89B93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0032-67E7-C3C0-2F14-10986028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597C6-C86C-2893-AC12-844B7E52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1BFA-7825-8949-5978-F1F68F40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8390-9B2D-A30F-F51F-2D3F471F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4EBED-9A4F-9CF4-A4C5-2F3C6FE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977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C2F-B0FD-9959-27A1-CAE27EC6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7D0B4-4F5E-CD30-FCD7-8214E9104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101F-51CD-DCE5-690D-8BF19445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6A0D-E8AC-0D78-A202-723D55CF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B6365-7D40-6630-6E49-57D1C1D2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5A28-922C-3C00-C508-291CAF2D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0798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E358-9C7B-26CE-682E-3BA95C7A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503E2-3892-EDDE-7692-920532DE2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56F8-345C-F069-CFEF-B1FA2F28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8159-4FC3-745A-F5B5-B30036FE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ACE29-4AA2-1D1B-F876-B5D4F6EA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065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AD697-4A2D-6986-9B85-3538281E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38171-43D9-2FA8-2567-8F439B8E8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D6014-B110-DDC7-38C3-E9A373E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DF84-D769-00FC-F6C6-1B1476E7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71-131F-DDDE-958C-B6758209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450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 dirty="0"/>
          </a:p>
        </p:txBody>
      </p:sp>
      <p:sp>
        <p:nvSpPr>
          <p:cNvPr id="405" name="Rectangle"/>
          <p:cNvSpPr/>
          <p:nvPr userDrawn="1"/>
        </p:nvSpPr>
        <p:spPr>
          <a:xfrm>
            <a:off x="327660" y="290830"/>
            <a:ext cx="11536680" cy="62763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07716">
              <a:lnSpc>
                <a:spcPct val="120000"/>
              </a:lnSpc>
              <a:spcBef>
                <a:spcPts val="0"/>
              </a:spcBef>
              <a:defRPr sz="3000" spc="-59">
                <a:solidFill>
                  <a:schemeClr val="accent5">
                    <a:hueOff val="-246905"/>
                    <a:satOff val="-77181"/>
                    <a:lumOff val="20457"/>
                  </a:schemeClr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500" dirty="0"/>
          </a:p>
        </p:txBody>
      </p:sp>
      <p:sp>
        <p:nvSpPr>
          <p:cNvPr id="407" name="Content Title"/>
          <p:cNvSpPr txBox="1">
            <a:spLocks noGrp="1"/>
          </p:cNvSpPr>
          <p:nvPr>
            <p:ph type="title" hasCustomPrompt="1"/>
          </p:nvPr>
        </p:nvSpPr>
        <p:spPr>
          <a:xfrm>
            <a:off x="1028700" y="457265"/>
            <a:ext cx="10134600" cy="90970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737476"/>
                </a:solidFill>
                <a:latin typeface="+mj-lt"/>
              </a:defRPr>
            </a:lvl1pPr>
          </a:lstStyle>
          <a:p>
            <a:r>
              <a:rPr dirty="0"/>
              <a:t>Content Title</a:t>
            </a:r>
          </a:p>
        </p:txBody>
      </p:sp>
      <p:sp>
        <p:nvSpPr>
          <p:cNvPr id="4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30CDAFA4-4CF5-7267-C176-CA9BC1FBF07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28019" y="1844041"/>
            <a:ext cx="10135963" cy="3956502"/>
          </a:xfrm>
          <a:prstGeom prst="rect">
            <a:avLst/>
          </a:prstGeom>
        </p:spPr>
        <p:txBody>
          <a:bodyPr anchor="t"/>
          <a:lstStyle>
            <a:lvl1pPr marL="22225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1pPr>
            <a:lvl2pPr marL="44450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18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2pPr>
            <a:lvl3pPr marL="815975" indent="-371475" algn="l" defTabSz="1219169">
              <a:lnSpc>
                <a:spcPct val="100000"/>
              </a:lnSpc>
              <a:spcBef>
                <a:spcPts val="2100"/>
              </a:spcBef>
              <a:buSzPct val="100000"/>
              <a:buFont typeface="Arial" panose="020B0604020202020204" pitchFamily="34" charset="0"/>
              <a:buChar char="•"/>
              <a:defRPr sz="16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3pPr>
            <a:lvl4pPr marL="88900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14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4pPr>
            <a:lvl5pPr marL="111125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5pPr>
          </a:lstStyle>
          <a:p>
            <a:pPr lvl="0"/>
            <a:r>
              <a:rPr lang="en-US" dirty="0"/>
              <a:t>Main 1</a:t>
            </a:r>
          </a:p>
          <a:p>
            <a:pPr lvl="0"/>
            <a:r>
              <a:rPr lang="en-US" dirty="0"/>
              <a:t>Main 2</a:t>
            </a:r>
          </a:p>
          <a:p>
            <a:pPr lvl="1"/>
            <a:r>
              <a:rPr lang="en-US" dirty="0"/>
              <a:t>Sub 1 </a:t>
            </a:r>
          </a:p>
          <a:p>
            <a:pPr lvl="1"/>
            <a:r>
              <a:rPr lang="en-US" dirty="0"/>
              <a:t>Sub 2</a:t>
            </a:r>
          </a:p>
          <a:p>
            <a:pPr lvl="2"/>
            <a:r>
              <a:rPr lang="en-US" dirty="0"/>
              <a:t>Sub 2a</a:t>
            </a:r>
          </a:p>
          <a:p>
            <a:pPr lvl="2"/>
            <a:r>
              <a:rPr lang="en-US" dirty="0"/>
              <a:t>Sub 2b</a:t>
            </a:r>
          </a:p>
          <a:p>
            <a:pPr lvl="3"/>
            <a:r>
              <a:rPr lang="en-US" dirty="0"/>
              <a:t>Sub 2bi</a:t>
            </a:r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4" name="Picture 3" descr="A picture containing silhouette, plant&#10;&#10;Description automatically generated">
            <a:extLst>
              <a:ext uri="{FF2B5EF4-FFF2-40B4-BE49-F238E27FC236}">
                <a16:creationId xmlns:a16="http://schemas.microsoft.com/office/drawing/2014/main" id="{6A47F707-7F7A-44F1-E09F-E04DC1C563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3502" y="6104072"/>
            <a:ext cx="1649987" cy="4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68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 dirty="0"/>
          </a:p>
        </p:txBody>
      </p:sp>
      <p:pic>
        <p:nvPicPr>
          <p:cNvPr id="85" name="Image" descr="Image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0648" y="3106005"/>
            <a:ext cx="3949909" cy="64599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4462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8BBD4-2A27-8653-4250-BB052B39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645A3-F900-023C-0932-F612D484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EE3A-86E7-9D84-B7DB-F8FE93D63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F44BB-14DF-43E9-8FF7-086183F60DE1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A4C2-6A03-78A6-9DF6-02F8AE102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04D0-6DF8-65BA-0D8D-76201F53B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A5C62-77FA-489E-8837-E49FAC254F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1685" y="1034993"/>
            <a:ext cx="6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3D Mezzanine Model</a:t>
            </a:r>
          </a:p>
          <a:p>
            <a:r>
              <a:rPr sz="2800"/>
              <a:t>Standard-Work Line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0132" y="3896528"/>
            <a:ext cx="4200000" cy="1086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Mac O'Keefe</a:t>
            </a:r>
          </a:p>
          <a:p>
            <a:r>
              <a:rPr sz="1800" b="1">
                <a:solidFill>
                  <a:srgbClr val="FFFFFF"/>
                </a:solidFill>
              </a:rPr>
              <a:t>Continuous Improvement ·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 built this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We were tasked with creating standard work for the mezzanine lines.</a:t>
            </a:r>
          </a:p>
          <a:p>
            <a:pPr/>
            <a:r>
              <a:t>That gave us a lot of good data (station times, people, sequence), but it lived in spreadsheets and SWIs.</a:t>
            </a:r>
          </a:p>
          <a:p>
            <a:pPr/>
            <a:r>
              <a:t>I built this simulation as a way to actually see all of that data on the floor, and use it to reach conclusions about optimization.</a:t>
            </a:r>
          </a:p>
          <a:p>
            <a:pPr/>
            <a:r>
              <a:rPr b="1"/>
              <a:t>The goal today: show you what we have, and plan strategies for each line together off the numbers we collected.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A 3D model of the mezzanine floor, the real layout, from the CAD drawing.</a:t>
            </a:r>
          </a:p>
          <a:p>
            <a:pPr/>
            <a:r>
              <a:t>All three lines run at once, each on its own schedule:</a:t>
            </a:r>
          </a:p>
          <a:p>
            <a:pPr lvl="1"/>
            <a:r>
              <a:t>Meritage, Sola, and Canyon Crew: operators, parts carts, forklifts, and finished-goods flow.</a:t>
            </a:r>
          </a:p>
          <a:p>
            <a:pPr/>
            <a:r>
              <a:t>Every station uses the real times from our SWIs.</a:t>
            </a:r>
          </a:p>
          <a:p>
            <a:pPr/>
            <a:r>
              <a:t>Live readouts per line: cycle (total labor), current pace, capacity per day, and the bottleneck.</a:t>
            </a:r>
          </a:p>
          <a:p>
            <a:pPr/>
            <a:r>
              <a:t>Runs in any browser. No install.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can do with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Test ideas live and see the effect on pace and output right away:</a:t>
            </a:r>
          </a:p>
          <a:p>
            <a:pPr lvl="1"/>
            <a:r>
              <a:t>Add help where an operator has idle time, and watch the bottleneck station drop.</a:t>
            </a:r>
          </a:p>
          <a:p>
            <a:pPr lvl="1"/>
            <a:r>
              <a:t>Move a step from one station to another to rebalance the line.</a:t>
            </a:r>
          </a:p>
          <a:p>
            <a:pPr lvl="1"/>
            <a:r>
              <a:t>Run different products on a line (Sola sizes, chair vs swivel) and see labor change.</a:t>
            </a:r>
          </a:p>
          <a:p>
            <a:pPr lvl="1"/>
            <a:r>
              <a:t>Focus on one line at a time, or view all three together.</a:t>
            </a:r>
          </a:p>
          <a:p>
            <a:pPr/>
            <a:r>
              <a:t>It is a thinking tool for line balancing, not just a picture.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lines stand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From the current model, at a 7-hour (420 min) working day:</a:t>
            </a:r>
          </a:p>
          <a:p>
            <a:pPr lvl="1"/>
            <a:r>
              <a:t>Meritage 3-Seater:  ~8.6 / day · pace 48.6 min · 272 min labor/unit · bottleneck Seat frame</a:t>
            </a:r>
          </a:p>
          <a:p>
            <a:pPr lvl="1"/>
            <a:r>
              <a:t>Sola Lounge (no arms):  11.0 / day · pace 38.2 min · 168.7 min labor/unit · bottleneck Frame</a:t>
            </a:r>
          </a:p>
          <a:p>
            <a:pPr lvl="1"/>
            <a:r>
              <a:t>Canyon Crew (chair):  14.0 / day · pace 30 min · 99 min labor/unit · bottleneck SWI 10 to 16</a:t>
            </a:r>
          </a:p>
          <a:p>
            <a:pPr/>
            <a:r>
              <a:rPr b="1"/>
              <a:t>These update the moment we change a time, add help, or rebalance, so we can compare options in the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look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00" y="1520000"/>
            <a:ext cx="7860000" cy="497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would like from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Ideas to try: anything you would want to see run on a line.</a:t>
            </a:r>
          </a:p>
          <a:p>
            <a:pPr/>
            <a:r>
              <a:t>Which line should we focus on first for optimization?</a:t>
            </a:r>
          </a:p>
          <a:p>
            <a:pPr/>
            <a:r>
              <a:t>A gut-check on the times and assumptions. A few product times are still estimates, not measured SWIs.</a:t>
            </a:r>
          </a:p>
          <a:p>
            <a:pPr/>
            <a:r>
              <a:t>Where help between stations is realistic vs where it is not, given how the crews actually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is headed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This is a working tool, not a finished hand-off yet.</a:t>
            </a:r>
          </a:p>
          <a:p>
            <a:pPr/>
            <a:r>
              <a:t>Next: move the data to our shared M365 (SharePoint) so a change one person makes updates company-wide.</a:t>
            </a:r>
          </a:p>
          <a:p>
            <a:pPr/>
            <a:r>
              <a:t>Keep grounding product times in real SWIs as we collect them.</a:t>
            </a:r>
          </a:p>
          <a:p>
            <a:pPr/>
            <a:r>
              <a:t>Longer term: pull layouts straight from CAD so the floor always matches the drawing.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1346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(body)</vt:lpstr>
      <vt:lpstr>Office Theme</vt:lpstr>
      <vt:lpstr>PowerPoint Presentation</vt:lpstr>
      <vt:lpstr>Agenda — Meritage 3-Seater (Engineering)</vt:lpstr>
      <vt:lpstr>Why is this so important? </vt:lpstr>
      <vt:lpstr>Improvements: Meritage  </vt:lpstr>
      <vt:lpstr>Meritage Flat connectors (Classic type #1)</vt:lpstr>
      <vt:lpstr>Meritage Flat connectors  (Type #2 which is split between left and right)</vt:lpstr>
      <vt:lpstr>Fix #1: First Step to Pre-Assembly: Fix the Connector BOM</vt:lpstr>
      <vt:lpstr>Fix # 1: Eliminate Connector Screw Swaps &amp; Reorientation</vt:lpstr>
      <vt:lpstr>Fix #2: Pre-Drill Connector Holes for Leg Insertion</vt:lpstr>
      <vt:lpstr>Fix #3: Receive Leg Pieces Pre-Assembled</vt:lpstr>
      <vt:lpstr>Labor-Savings Roll-Up &amp; Roadmap</vt:lpstr>
      <vt:lpstr>Disclaimer: The replacement screws listed (1012919 and 40204) reflect what operators are currently using on the line and are confirmed to work.  They are provided as a reference baseline for what currently works, but engineering should still validate whether these are the optimal spec before formalizing in the BOM.</vt:lpstr>
      <vt:lpstr>Thank you for your time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Costa</dc:creator>
  <cp:lastModifiedBy>Mac O'Keefe</cp:lastModifiedBy>
  <cp:revision>23</cp:revision>
  <dcterms:created xsi:type="dcterms:W3CDTF">2026-06-17T19:39:29Z</dcterms:created>
  <dcterms:modified xsi:type="dcterms:W3CDTF">2026-06-26T15:19:25Z</dcterms:modified>
</cp:coreProperties>
</file>