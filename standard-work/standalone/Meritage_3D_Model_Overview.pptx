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5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84016-FA22-CE01-304D-205123619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3BCAAE-BB82-2C0F-CEE9-B7B100A8A1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60C4B-5C56-E230-E8A7-624861562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E40D-2C1B-63E7-C711-E7F27B383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A1557C-ECD5-70A9-8826-AA616131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0047913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FE8D6-6C57-5E89-D11A-856FC81EF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2A28A-8A97-B097-FC80-D94EFCDC5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87E99-B1ED-FBED-7DB9-5AECD140A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74A557-8CAE-8991-D049-C5A8107E1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D8FE1-7D73-1D5D-C37F-5FA3ACFF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6812788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3F98E-86E8-B4CA-C67A-359898FE9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B846D-6E2D-9D67-F14C-87243D40C4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76273-861A-E991-DA43-00636DA51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9DDB5-189D-A384-CEA4-3BD2BA8253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8C518A-B614-37FC-863E-A4843941C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7841970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093D3-A21F-3795-4566-5D351DE4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D4A3D-A546-27E1-8030-5E5511CB42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FF968B-DFC4-9A85-900E-43FB3F9C6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9DB4C4-FFB1-07A9-CC89-B02CB567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97C89-85E6-6316-0BDC-4542B390D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B84AB-19EB-70CE-A097-DAECFE1CC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262882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3E112-ADBA-3517-FF11-868BC8EE4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D7EAD4-974A-76BC-3163-529340851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3D12D6-2A4E-2FD0-FE8E-9B7DEF31B8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886737-7439-0832-B8ED-E20F470F60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978ECE-7188-355B-35B3-7321354A54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E8C464-8094-ECAE-B5A4-29E14DCDE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F2A86-75F6-0AB6-9F38-10FC77142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94D414-08FD-7A10-5ECA-49D369161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0483548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35675-F986-CBE3-604B-5772B38F1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E4B1F-5FD6-E9E1-D355-03B0C70BA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6E80BB-035C-49B4-670B-7F35BBD78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44A98-853F-3FC3-47AB-34ADFDEDE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0448814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F3853-2C7E-32B2-25F7-26F0BDBC4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A63404-5708-0A7C-B9FD-6E85D4291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F9AC7D-1B1D-4979-1D96-B699949EB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7705697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1E7D2-F4EF-147F-BF14-01F89B936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D0032-67E7-C3C0-2F14-1098602801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C597C6-C86C-2893-AC12-844B7E527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471BFA-7825-8949-5978-F1F68F401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848390-9B2D-A30F-F51F-2D3F471F1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84EBED-9A4F-9CF4-A4C5-2F3C6FEE5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297727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25C2F-B0FD-9959-27A1-CAE27EC66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7D0B4-4F5E-CD30-FCD7-8214E91048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A3101F-51CD-DCE5-690D-8BF194456E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B76A0D-E8AC-0D78-A202-723D55CF9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B6365-7D40-6630-6E49-57D1C1D2C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745A28-922C-3C00-C508-291CAF2D8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707985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DE358-9C7B-26CE-682E-3BA95C7A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C503E2-3892-EDDE-7692-920532DE28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756F8-345C-F069-CFEF-B1FA2F286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CE8159-4FC3-745A-F5B5-B30036FE6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ACE29-4AA2-1D1B-F876-B5D4F6EA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3506553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9AD697-4A2D-6986-9B85-3538281EFB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738171-43D9-2FA8-2567-8F439B8E8B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5D6014-B110-DDC7-38C3-E9A373E40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49DF84-D769-00FC-F6C6-1B1476E7C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AD371-131F-DDDE-958C-B6758209A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4445011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 dirty="0"/>
          </a:p>
        </p:txBody>
      </p:sp>
      <p:sp>
        <p:nvSpPr>
          <p:cNvPr id="405" name="Rectangle"/>
          <p:cNvSpPr/>
          <p:nvPr userDrawn="1"/>
        </p:nvSpPr>
        <p:spPr>
          <a:xfrm>
            <a:off x="327660" y="290830"/>
            <a:ext cx="11536680" cy="627634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207716">
              <a:lnSpc>
                <a:spcPct val="120000"/>
              </a:lnSpc>
              <a:spcBef>
                <a:spcPts val="0"/>
              </a:spcBef>
              <a:defRPr sz="3000" spc="-59">
                <a:solidFill>
                  <a:schemeClr val="accent5">
                    <a:hueOff val="-246905"/>
                    <a:satOff val="-77181"/>
                    <a:lumOff val="20457"/>
                  </a:schemeClr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500" dirty="0"/>
          </a:p>
        </p:txBody>
      </p:sp>
      <p:sp>
        <p:nvSpPr>
          <p:cNvPr id="407" name="Content Title"/>
          <p:cNvSpPr txBox="1">
            <a:spLocks noGrp="1"/>
          </p:cNvSpPr>
          <p:nvPr>
            <p:ph type="title" hasCustomPrompt="1"/>
          </p:nvPr>
        </p:nvSpPr>
        <p:spPr>
          <a:xfrm>
            <a:off x="1028700" y="457265"/>
            <a:ext cx="10134600" cy="909701"/>
          </a:xfrm>
          <a:prstGeom prst="rect">
            <a:avLst/>
          </a:prstGeom>
        </p:spPr>
        <p:txBody>
          <a:bodyPr anchor="ctr"/>
          <a:lstStyle>
            <a:lvl1pPr algn="l">
              <a:defRPr sz="4000" b="1">
                <a:solidFill>
                  <a:srgbClr val="737476"/>
                </a:solidFill>
                <a:latin typeface="+mj-lt"/>
              </a:defRPr>
            </a:lvl1pPr>
          </a:lstStyle>
          <a:p>
            <a:r>
              <a:rPr dirty="0"/>
              <a:t>Content Title</a:t>
            </a:r>
          </a:p>
        </p:txBody>
      </p:sp>
      <p:sp>
        <p:nvSpPr>
          <p:cNvPr id="4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  <p:sp>
        <p:nvSpPr>
          <p:cNvPr id="3" name="Body Level One…">
            <a:extLst>
              <a:ext uri="{FF2B5EF4-FFF2-40B4-BE49-F238E27FC236}">
                <a16:creationId xmlns:a16="http://schemas.microsoft.com/office/drawing/2014/main" id="{30CDAFA4-4CF5-7267-C176-CA9BC1FBF075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1028019" y="1844041"/>
            <a:ext cx="10135963" cy="3956502"/>
          </a:xfrm>
          <a:prstGeom prst="rect">
            <a:avLst/>
          </a:prstGeom>
        </p:spPr>
        <p:txBody>
          <a:bodyPr anchor="t"/>
          <a:lstStyle>
            <a:lvl1pPr marL="22225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1pPr>
            <a:lvl2pPr marL="444500" indent="-222250" algn="l" defTabSz="1219169">
              <a:lnSpc>
                <a:spcPct val="100000"/>
              </a:lnSpc>
              <a:spcBef>
                <a:spcPts val="2100"/>
              </a:spcBef>
              <a:buSzPct val="100000"/>
              <a:buChar char="•"/>
              <a:defRPr sz="18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2pPr>
            <a:lvl3pPr marL="815975" indent="-371475" algn="l" defTabSz="1219169">
              <a:lnSpc>
                <a:spcPct val="100000"/>
              </a:lnSpc>
              <a:spcBef>
                <a:spcPts val="2100"/>
              </a:spcBef>
              <a:buSzPct val="100000"/>
              <a:buFont typeface="Arial" panose="020B0604020202020204" pitchFamily="34" charset="0"/>
              <a:buChar char="•"/>
              <a:defRPr sz="16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3pPr>
            <a:lvl4pPr marL="88900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14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4pPr>
            <a:lvl5pPr marL="1111250" indent="-222250" algn="l" defTabSz="1219169">
              <a:lnSpc>
                <a:spcPct val="80000"/>
              </a:lnSpc>
              <a:spcBef>
                <a:spcPts val="2100"/>
              </a:spcBef>
              <a:buSzPct val="100000"/>
              <a:buChar char="•"/>
              <a:defRPr sz="2000" b="0" cap="none" baseline="0">
                <a:solidFill>
                  <a:srgbClr val="737476"/>
                </a:solidFill>
                <a:latin typeface="+mn-lt"/>
                <a:ea typeface="Azo Sans"/>
                <a:cs typeface="Azo Sans"/>
                <a:sym typeface="Azo Sans"/>
              </a:defRPr>
            </a:lvl5pPr>
          </a:lstStyle>
          <a:p>
            <a:pPr lvl="0"/>
            <a:r>
              <a:rPr lang="en-US" dirty="0"/>
              <a:t>Main 1</a:t>
            </a:r>
          </a:p>
          <a:p>
            <a:pPr lvl="0"/>
            <a:r>
              <a:rPr lang="en-US" dirty="0"/>
              <a:t>Main 2</a:t>
            </a:r>
          </a:p>
          <a:p>
            <a:pPr lvl="1"/>
            <a:r>
              <a:rPr lang="en-US" dirty="0"/>
              <a:t>Sub 1 </a:t>
            </a:r>
          </a:p>
          <a:p>
            <a:pPr lvl="1"/>
            <a:r>
              <a:rPr lang="en-US" dirty="0"/>
              <a:t>Sub 2</a:t>
            </a:r>
          </a:p>
          <a:p>
            <a:pPr lvl="2"/>
            <a:r>
              <a:rPr lang="en-US" dirty="0"/>
              <a:t>Sub 2a</a:t>
            </a:r>
          </a:p>
          <a:p>
            <a:pPr lvl="2"/>
            <a:r>
              <a:rPr lang="en-US" dirty="0"/>
              <a:t>Sub 2b</a:t>
            </a:r>
          </a:p>
          <a:p>
            <a:pPr lvl="3"/>
            <a:r>
              <a:rPr lang="en-US" dirty="0"/>
              <a:t>Sub 2bi</a:t>
            </a:r>
            <a:endParaRPr dirty="0"/>
          </a:p>
          <a:p>
            <a:pPr lvl="2"/>
            <a:endParaRPr dirty="0"/>
          </a:p>
          <a:p>
            <a:pPr lvl="3"/>
            <a:endParaRPr dirty="0"/>
          </a:p>
          <a:p>
            <a:pPr lvl="4"/>
            <a:endParaRPr dirty="0"/>
          </a:p>
        </p:txBody>
      </p:sp>
      <p:pic>
        <p:nvPicPr>
          <p:cNvPr id="4" name="Picture 3" descr="A picture containing silhouette, plant&#10;&#10;Description automatically generated">
            <a:extLst>
              <a:ext uri="{FF2B5EF4-FFF2-40B4-BE49-F238E27FC236}">
                <a16:creationId xmlns:a16="http://schemas.microsoft.com/office/drawing/2014/main" id="{6A47F707-7F7A-44F1-E09F-E04DC1C563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993502" y="6104072"/>
            <a:ext cx="1649987" cy="402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506881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"/>
          <p:cNvSpPr/>
          <p:nvPr/>
        </p:nvSpPr>
        <p:spPr>
          <a:xfrm>
            <a:off x="-6350" y="-12700"/>
            <a:ext cx="12204700" cy="6883400"/>
          </a:xfrm>
          <a:prstGeom prst="rect">
            <a:avLst/>
          </a:prstGeom>
          <a:solidFill>
            <a:srgbClr val="737476"/>
          </a:solidFill>
          <a:ln w="12700">
            <a:miter lim="400000"/>
          </a:ln>
        </p:spPr>
        <p:txBody>
          <a:bodyPr lIns="25400" tIns="25400" rIns="25400" bIns="25400" anchor="ctr"/>
          <a:lstStyle/>
          <a:p>
            <a:pPr algn="l" defTabSz="207716">
              <a:lnSpc>
                <a:spcPct val="120000"/>
              </a:lnSpc>
              <a:spcBef>
                <a:spcPts val="0"/>
              </a:spcBef>
              <a:defRPr sz="2800" spc="-56">
                <a:solidFill>
                  <a:srgbClr val="FFFFFF"/>
                </a:solidFill>
                <a:latin typeface="Canela Deck Bold"/>
                <a:ea typeface="Canela Deck Bold"/>
                <a:cs typeface="Canela Deck Bold"/>
                <a:sym typeface="Canela Deck Bold"/>
              </a:defRPr>
            </a:pPr>
            <a:endParaRPr sz="1400" dirty="0"/>
          </a:p>
        </p:txBody>
      </p:sp>
      <p:pic>
        <p:nvPicPr>
          <p:cNvPr id="85" name="Image" descr="Image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0648" y="3106005"/>
            <a:ext cx="3949909" cy="645991"/>
          </a:xfrm>
          <a:prstGeom prst="rect">
            <a:avLst/>
          </a:prstGeom>
          <a:ln w="12700">
            <a:miter lim="400000"/>
          </a:ln>
        </p:spPr>
      </p:pic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45446284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98BBD4-2A27-8653-4250-BB052B395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7645A3-F900-023C-0932-F612D4843B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3EE3A-86E7-9D84-B7DB-F8FE93D638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1F44BB-14DF-43E9-8FF7-086183F60DE1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1A4C2-6A03-78A6-9DF6-02F8AE102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1D04D0-6DF8-65BA-0D8D-76201F53B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FA5C62-77FA-489E-8837-E49FAC254F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970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ransition spd="med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1685" y="1034993"/>
            <a:ext cx="61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/>
              <a:t>3D Mezzanine Model</a:t>
            </a:r>
          </a:p>
          <a:p>
            <a:r>
              <a:rPr sz="2800"/>
              <a:t>Standard-Work Line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50132" y="3896528"/>
            <a:ext cx="4200000" cy="10864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Mac O'Keefe</a:t>
            </a:r>
          </a:p>
          <a:p>
            <a:r>
              <a:rPr sz="1800" b="1">
                <a:solidFill>
                  <a:srgbClr val="FFFFFF"/>
                </a:solidFill>
              </a:rPr>
              <a:t>Continuous Improvement · 07/2026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it 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t>A 3D model of the mezzanine floor, built from the CAD layout.</a:t>
            </a:r>
          </a:p>
          <a:p>
            <a:pPr/>
            <a:r>
              <a:t>All three lines run live (Meritage, Sola, Canyon Crew) using the real times from our SWIs.</a:t>
            </a:r>
          </a:p>
          <a:p>
            <a:pPr/>
            <a:r>
              <a:t>Shows cycle, pace, capacity, and the bottleneck for each line, and updates the moment you change anything.</a:t>
            </a:r>
          </a:p>
          <a:p>
            <a:pPr/>
            <a:r>
              <a:t>Runs in any browser. No install.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Products mapped so far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t>Meritage:  3-Seater, 2-Seater, Chair, Swivel Chair</a:t>
            </a:r>
          </a:p>
          <a:p>
            <a:pPr/>
            <a:r>
              <a:t>Sola Lounge:  no arms, 1 arm, both arms, middle leg</a:t>
            </a:r>
          </a:p>
          <a:p>
            <a:pPr/>
            <a:r>
              <a:t>Canyon Crew:  Canyon Chair</a:t>
            </a:r>
          </a:p>
          <a:p>
            <a:pPr/>
            <a:r>
              <a:rPr b="1"/>
              <a:t>Each product carries its own real steps or a measured time factor, so labor and pace change when you switch products.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look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000" y="1520000"/>
            <a:ext cx="7860000" cy="497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we want to take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/>
            <a:r>
              <a:rPr b="1"/>
              <a:t>Turn it into a daily planning tool, split into two roles:</a:t>
            </a:r>
          </a:p>
          <a:p>
            <a:pPr lvl="1"/>
            <a:r>
              <a:t>Admin page: owns the back end and the workflow design, station setup, product step times, line rules.</a:t>
            </a:r>
          </a:p>
          <a:p>
            <a:pPr lvl="1"/>
            <a:r>
              <a:t>Floor manager page: each day, enter the products lined up to build and the people available.</a:t>
            </a:r>
          </a:p>
          <a:p>
            <a:pPr/>
            <a:r>
              <a:t>The tool then shows the best way to run the lines that day, staffing, help, and balance, to optimize output.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1454</TotalTime>
  <Words>1346</Words>
  <Application>Microsoft Office PowerPoint</Application>
  <PresentationFormat>Widescreen</PresentationFormat>
  <Paragraphs>89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Calibri (body)</vt:lpstr>
      <vt:lpstr>Office Theme</vt:lpstr>
      <vt:lpstr>PowerPoint Presentation</vt:lpstr>
      <vt:lpstr>Agenda — Meritage 3-Seater (Engineering)</vt:lpstr>
      <vt:lpstr>Why is this so important? </vt:lpstr>
      <vt:lpstr>Improvements: Meritage  </vt:lpstr>
      <vt:lpstr>Meritage Flat connectors (Classic type #1)</vt:lpstr>
      <vt:lpstr>Meritage Flat connectors  (Type #2 which is split between left and right)</vt:lpstr>
      <vt:lpstr>Fix #1: First Step to Pre-Assembly: Fix the Connector BOM</vt:lpstr>
      <vt:lpstr>Fix # 1: Eliminate Connector Screw Swaps &amp; Reorientation</vt:lpstr>
      <vt:lpstr>Fix #2: Pre-Drill Connector Holes for Leg Insertion</vt:lpstr>
      <vt:lpstr>Fix #3: Receive Leg Pieces Pre-Assembled</vt:lpstr>
      <vt:lpstr>Labor-Savings Roll-Up &amp; Roadmap</vt:lpstr>
      <vt:lpstr>Disclaimer: The replacement screws listed (1012919 and 40204) reflect what operators are currently using on the line and are confirmed to work.  They are provided as a reference baseline for what currently works, but engineering should still validate whether these are the optimal spec before formalizing in the BOM.</vt:lpstr>
      <vt:lpstr>Thank you for your time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Anthony Costa</dc:creator>
  <cp:lastModifiedBy>Mac O'Keefe</cp:lastModifiedBy>
  <cp:revision>23</cp:revision>
  <dcterms:created xsi:type="dcterms:W3CDTF">2026-06-17T19:39:29Z</dcterms:created>
  <dcterms:modified xsi:type="dcterms:W3CDTF">2026-06-26T15:19:25Z</dcterms:modified>
</cp:coreProperties>
</file>